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Our project predicts which places in Houston are likely to flood, explains why, and puts that information in the hands of every resident through a live tool. 4-minute pitch: research topic, motivation, challenges, what we've built so far, and the end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question: given a location, does it flood? Lookup diagram shows: one point, look up elevation, bayou distance, paved %, rainfall → model says YES or NO. Prior work by Liu 2024 gives our benchmark. Compact table shows 5 key differences vs prior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photos and numbers speak. 39 inches of rain, 25-30% of the county underwater, only 15% insured. Four major floods in five years. The red box: no tool exists today that tells a specific resident if their address is at risk. The three boxes show who benefits: residents, city planners, first responders.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layers diagram shows the 5 sources — all different formats, different coordinate systems. The data engineering challenge is merging them into one clean table. Walk through each of the 5 challenges: messy text, huge files, mismatched coordinates, sparse rainfall, choosing no-flood spots. Bottom right: the temporal part — same location, different storm, different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5 models — tree models, neural network, CNN. All give flood probability + SHAP reasons. Middle: checklist — 6 items already done, 2 still to do. Right: our real numbers — 85,738 training rows, 24,852 test rows, balanced 50/50, 7 of 13 columns filled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 goal. Any Houston resident opens the app, types their address, and sees their flood risk score with an explanation. The rainfall slider lets them ask 'what if 6 inches fall today?' The SHAP panel tells them exactly why their spot is risky. Not an official flood warning — a research prototype that puts data-driven flood intelligence in every resident's hands. Timeline at the bottom shows our remaining milestones.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solidFill>
          <a:ln/>
        </p:spPr>
      </p:sp>
      <p:sp>
        <p:nvSpPr>
          <p:cNvPr id="4" name="Shape 1"/>
          <p:cNvSpPr/>
          <p:nvPr/>
        </p:nvSpPr>
        <p:spPr>
          <a:xfrm>
            <a:off x="0" y="0"/>
            <a:ext cx="4937760" cy="5143500"/>
          </a:xfrm>
          <a:prstGeom prst="rect">
            <a:avLst/>
          </a:prstGeom>
          <a:solidFill>
            <a:srgbClr val="C8102E"/>
          </a:solidFill>
          <a:ln/>
        </p:spPr>
      </p:sp>
      <p:sp>
        <p:nvSpPr>
          <p:cNvPr id="5" name="Text 2"/>
          <p:cNvSpPr txBox="1"/>
          <p:nvPr/>
        </p:nvSpPr>
        <p:spPr>
          <a:xfrm>
            <a:off x="228600" y="320040"/>
            <a:ext cx="4572000" cy="1737360"/>
          </a:xfrm>
          <a:prstGeom prst="rect">
            <a:avLst/>
          </a:prstGeom>
          <a:noFill/>
          <a:ln/>
        </p:spPr>
        <p:txBody>
          <a:bodyPr wrap="square" rtlCol="0" anchor="ctr"/>
          <a:lstStyle/>
          <a:p>
            <a:pPr indent="0" marL="0">
              <a:buNone/>
            </a:pPr>
            <a:r>
              <a:rPr lang="en-US" sz="2400" b="1" dirty="0">
                <a:solidFill>
                  <a:srgbClr val="FFFFFF"/>
                </a:solidFill>
              </a:rPr>
              <a:t>Spatio-Temporal Urban Flood</a:t>
            </a:r>
            <a:endParaRPr lang="en-US" sz="2400" dirty="0"/>
          </a:p>
          <a:p>
            <a:pPr indent="0" marL="0">
              <a:buNone/>
            </a:pPr>
            <a:r>
              <a:rPr lang="en-US" sz="2400" b="1" dirty="0">
                <a:solidFill>
                  <a:srgbClr val="FFFFFF"/>
                </a:solidFill>
              </a:rPr>
              <a:t>Hotspot Prediction</a:t>
            </a:r>
            <a:endParaRPr lang="en-US" sz="2400" dirty="0"/>
          </a:p>
        </p:txBody>
      </p:sp>
      <p:sp>
        <p:nvSpPr>
          <p:cNvPr id="6" name="Text 3"/>
          <p:cNvSpPr txBox="1"/>
          <p:nvPr/>
        </p:nvSpPr>
        <p:spPr>
          <a:xfrm>
            <a:off x="228600" y="2103120"/>
            <a:ext cx="4572000" cy="685800"/>
          </a:xfrm>
          <a:prstGeom prst="rect">
            <a:avLst/>
          </a:prstGeom>
          <a:noFill/>
          <a:ln/>
        </p:spPr>
        <p:txBody>
          <a:bodyPr wrap="square" rtlCol="0" anchor="ctr"/>
          <a:lstStyle/>
          <a:p>
            <a:pPr indent="0" marL="0">
              <a:buNone/>
            </a:pPr>
            <a:r>
              <a:rPr lang="en-US" sz="1150" dirty="0">
                <a:solidFill>
                  <a:srgbClr val="FFCCCC"/>
                </a:solidFill>
              </a:rPr>
              <a:t>Multi-Source Geospatial Data Engineering</a:t>
            </a:r>
            <a:endParaRPr lang="en-US" sz="1150" dirty="0"/>
          </a:p>
          <a:p>
            <a:pPr indent="0" marL="0">
              <a:buNone/>
            </a:pPr>
            <a:r>
              <a:rPr lang="en-US" sz="1150" dirty="0">
                <a:solidFill>
                  <a:srgbClr val="FFCCCC"/>
                </a:solidFill>
              </a:rPr>
              <a:t>and Explainable Deep Learning, Houston TX</a:t>
            </a:r>
            <a:endParaRPr lang="en-US" sz="1150" dirty="0"/>
          </a:p>
        </p:txBody>
      </p:sp>
      <p:sp>
        <p:nvSpPr>
          <p:cNvPr id="7" name="Shape 4"/>
          <p:cNvSpPr/>
          <p:nvPr/>
        </p:nvSpPr>
        <p:spPr>
          <a:xfrm>
            <a:off x="228600" y="2880360"/>
            <a:ext cx="4297680" cy="0"/>
          </a:xfrm>
          <a:prstGeom prst="line">
            <a:avLst/>
          </a:prstGeom>
          <a:noFill/>
          <a:ln w="10160">
            <a:solidFill>
              <a:srgbClr val="FFFFFF"/>
            </a:solidFill>
            <a:prstDash val="solid"/>
          </a:ln>
        </p:spPr>
      </p:sp>
      <p:sp>
        <p:nvSpPr>
          <p:cNvPr id="8" name="Text 5"/>
          <p:cNvSpPr txBox="1"/>
          <p:nvPr/>
        </p:nvSpPr>
        <p:spPr>
          <a:xfrm>
            <a:off x="228600" y="2999232"/>
            <a:ext cx="4572000" cy="475488"/>
          </a:xfrm>
          <a:prstGeom prst="rect">
            <a:avLst/>
          </a:prstGeom>
          <a:noFill/>
          <a:ln/>
        </p:spPr>
        <p:txBody>
          <a:bodyPr wrap="square" rtlCol="0" anchor="ctr"/>
          <a:lstStyle/>
          <a:p>
            <a:pPr indent="0" marL="0">
              <a:buNone/>
            </a:pPr>
            <a:r>
              <a:rPr lang="en-US" sz="950" dirty="0">
                <a:solidFill>
                  <a:srgbClr val="FFCCCC"/>
                </a:solidFill>
              </a:rPr>
              <a:t>COSC 6368 Artificial Intelligence  •  Fall 2026</a:t>
            </a:r>
            <a:endParaRPr lang="en-US" sz="950" dirty="0"/>
          </a:p>
          <a:p>
            <a:pPr indent="0" marL="0">
              <a:buNone/>
            </a:pPr>
            <a:r>
              <a:rPr lang="en-US" sz="950" dirty="0">
                <a:solidFill>
                  <a:srgbClr val="FFCCCC"/>
                </a:solidFill>
              </a:rPr>
              <a:t>Proposal Presentation</a:t>
            </a:r>
            <a:endParaRPr lang="en-US" sz="950" dirty="0"/>
          </a:p>
        </p:txBody>
      </p:sp>
      <p:sp>
        <p:nvSpPr>
          <p:cNvPr id="9" name="Text 6"/>
          <p:cNvSpPr txBox="1"/>
          <p:nvPr/>
        </p:nvSpPr>
        <p:spPr>
          <a:xfrm>
            <a:off x="228600" y="4434840"/>
            <a:ext cx="4572000" cy="292608"/>
          </a:xfrm>
          <a:prstGeom prst="rect">
            <a:avLst/>
          </a:prstGeom>
          <a:noFill/>
          <a:ln/>
        </p:spPr>
        <p:txBody>
          <a:bodyPr wrap="square" rtlCol="0" anchor="ctr"/>
          <a:lstStyle/>
          <a:p>
            <a:pPr indent="0" marL="0">
              <a:buNone/>
            </a:pPr>
            <a:r>
              <a:rPr lang="en-US" sz="950" b="1" dirty="0">
                <a:solidFill>
                  <a:srgbClr val="FFFFFF"/>
                </a:solidFill>
              </a:rPr>
              <a:t>Sakina Saifuddin  |  Aaliyah D. McAfee  |  Van Bao Nguyen</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C8102E"/>
          </a:solidFill>
          <a:ln/>
        </p:spPr>
      </p:sp>
      <p:sp>
        <p:nvSpPr>
          <p:cNvPr id="3" name="Text 1"/>
          <p:cNvSpPr txBox="1"/>
          <p:nvPr/>
        </p:nvSpPr>
        <p:spPr>
          <a:xfrm>
            <a:off x="164592" y="73152"/>
            <a:ext cx="6858000" cy="402336"/>
          </a:xfrm>
          <a:prstGeom prst="rect">
            <a:avLst/>
          </a:prstGeom>
          <a:noFill/>
          <a:ln/>
        </p:spPr>
        <p:txBody>
          <a:bodyPr wrap="square" rtlCol="0" anchor="ctr"/>
          <a:lstStyle/>
          <a:p>
            <a:pPr indent="0" marL="0">
              <a:buNone/>
            </a:pPr>
            <a:r>
              <a:rPr lang="en-US" sz="1600" b="1" dirty="0">
                <a:solidFill>
                  <a:srgbClr val="FFFFFF"/>
                </a:solidFill>
              </a:rPr>
              <a:t>Research Topic</a:t>
            </a:r>
            <a:endParaRPr lang="en-US" sz="1600" dirty="0"/>
          </a:p>
        </p:txBody>
      </p:sp>
      <p:sp>
        <p:nvSpPr>
          <p:cNvPr id="4" name="Text 2"/>
          <p:cNvSpPr txBox="1"/>
          <p:nvPr/>
        </p:nvSpPr>
        <p:spPr>
          <a:xfrm>
            <a:off x="7132320" y="109728"/>
            <a:ext cx="1920240" cy="320040"/>
          </a:xfrm>
          <a:prstGeom prst="rect">
            <a:avLst/>
          </a:prstGeom>
          <a:noFill/>
          <a:ln/>
        </p:spPr>
        <p:txBody>
          <a:bodyPr wrap="square" rtlCol="0" anchor="ctr"/>
          <a:lstStyle/>
          <a:p>
            <a:pPr algn="r" indent="0" marL="0">
              <a:buNone/>
            </a:pPr>
            <a:r>
              <a:rPr lang="en-US" sz="800" dirty="0">
                <a:solidFill>
                  <a:srgbClr val="FFCCCC"/>
                </a:solidFill>
              </a:rPr>
              <a:t>1  Research topic</a:t>
            </a:r>
            <a:endParaRPr lang="en-US" sz="800" dirty="0"/>
          </a:p>
        </p:txBody>
      </p:sp>
      <p:sp>
        <p:nvSpPr>
          <p:cNvPr id="5" name="Text 3"/>
          <p:cNvSpPr txBox="1"/>
          <p:nvPr/>
        </p:nvSpPr>
        <p:spPr>
          <a:xfrm>
            <a:off x="137160" y="4992624"/>
            <a:ext cx="8869680" cy="146304"/>
          </a:xfrm>
          <a:prstGeom prst="rect">
            <a:avLst/>
          </a:prstGeom>
          <a:noFill/>
          <a:ln/>
        </p:spPr>
        <p:txBody>
          <a:bodyPr wrap="square" rtlCol="0" anchor="ctr"/>
          <a:lstStyle/>
          <a:p>
            <a:pPr algn="ctr" indent="0" marL="0">
              <a:buNone/>
            </a:pPr>
            <a:r>
              <a:rPr lang="en-US" sz="700" dirty="0">
                <a:solidFill>
                  <a:srgbClr val="CCCCCC"/>
                </a:solidFill>
              </a:rPr>
              <a:t>COSC 6368 Artificial Intelligence  •  Fall 2026  •  2 / 6</a:t>
            </a:r>
            <a:endParaRPr lang="en-US" sz="700" dirty="0"/>
          </a:p>
        </p:txBody>
      </p:sp>
      <p:sp>
        <p:nvSpPr>
          <p:cNvPr id="6" name="Shape 4"/>
          <p:cNvSpPr/>
          <p:nvPr/>
        </p:nvSpPr>
        <p:spPr>
          <a:xfrm>
            <a:off x="164592" y="621792"/>
            <a:ext cx="8814816" cy="457200"/>
          </a:xfrm>
          <a:prstGeom prst="rect">
            <a:avLst/>
          </a:prstGeom>
          <a:solidFill>
            <a:srgbClr val="F4F4F4"/>
          </a:solidFill>
          <a:ln w="12700">
            <a:solidFill>
              <a:srgbClr val="CCCCCC"/>
            </a:solidFill>
            <a:prstDash val="solid"/>
          </a:ln>
        </p:spPr>
      </p:sp>
      <p:sp>
        <p:nvSpPr>
          <p:cNvPr id="7" name="Text 5"/>
          <p:cNvSpPr txBox="1"/>
          <p:nvPr/>
        </p:nvSpPr>
        <p:spPr>
          <a:xfrm>
            <a:off x="274320" y="667512"/>
            <a:ext cx="8595360" cy="347472"/>
          </a:xfrm>
          <a:prstGeom prst="rect">
            <a:avLst/>
          </a:prstGeom>
          <a:noFill/>
          <a:ln/>
        </p:spPr>
        <p:txBody>
          <a:bodyPr wrap="square" rtlCol="0" anchor="ctr"/>
          <a:lstStyle/>
          <a:p>
            <a:pPr indent="0" marL="0">
              <a:buNone/>
            </a:pPr>
            <a:r>
              <a:rPr lang="en-US" sz="1200" b="1" dirty="0">
                <a:solidFill>
                  <a:srgbClr val="C8102E"/>
                </a:solidFill>
              </a:rPr>
              <a:t>"Given any location in Houston, is it a flood hotspot — YES or NO — and which factors explain why?"</a:t>
            </a:r>
            <a:endParaRPr lang="en-US" sz="1200" dirty="0"/>
          </a:p>
        </p:txBody>
      </p:sp>
      <p:pic>
        <p:nvPicPr>
          <p:cNvPr id="8" name="Image 0" descr="preencoded.png">    </p:cNvPr>
          <p:cNvPicPr>
            <a:picLocks noChangeAspect="1"/>
          </p:cNvPicPr>
          <p:nvPr/>
        </p:nvPicPr>
        <p:blipFill>
          <a:blip r:embed="rId1"/>
          <a:stretch>
            <a:fillRect/>
          </a:stretch>
        </p:blipFill>
        <p:spPr>
          <a:xfrm>
            <a:off x="164592" y="1143000"/>
            <a:ext cx="4160520" cy="2423160"/>
          </a:xfrm>
          <a:prstGeom prst="rect">
            <a:avLst/>
          </a:prstGeom>
        </p:spPr>
      </p:pic>
      <p:sp>
        <p:nvSpPr>
          <p:cNvPr id="9" name="Text 6"/>
          <p:cNvSpPr txBox="1"/>
          <p:nvPr/>
        </p:nvSpPr>
        <p:spPr>
          <a:xfrm>
            <a:off x="164592" y="3602736"/>
            <a:ext cx="4160520" cy="411480"/>
          </a:xfrm>
          <a:prstGeom prst="rect">
            <a:avLst/>
          </a:prstGeom>
          <a:noFill/>
          <a:ln/>
        </p:spPr>
        <p:txBody>
          <a:bodyPr wrap="square" rtlCol="0" anchor="ctr"/>
          <a:lstStyle/>
          <a:p>
            <a:pPr indent="0" marL="0">
              <a:buNone/>
            </a:pPr>
            <a:r>
              <a:rPr lang="en-US" sz="850" dirty="0">
                <a:solidFill>
                  <a:srgbClr val="555555"/>
                </a:solidFill>
              </a:rPr>
              <a:t>One location → look up facts → model answers YES or NO + reasons.</a:t>
            </a:r>
            <a:endParaRPr lang="en-US" sz="850" dirty="0"/>
          </a:p>
          <a:p>
            <a:pPr indent="0" marL="0">
              <a:buNone/>
            </a:pPr>
            <a:r>
              <a:rPr lang="en-US" sz="850" dirty="0">
                <a:solidFill>
                  <a:srgbClr val="555555"/>
                </a:solidFill>
              </a:rPr>
              <a:t>Ground truth = real 311 flood reports, City of Houston.</a:t>
            </a:r>
            <a:endParaRPr lang="en-US" sz="850" dirty="0"/>
          </a:p>
        </p:txBody>
      </p:sp>
      <p:sp>
        <p:nvSpPr>
          <p:cNvPr id="10" name="Shape 7"/>
          <p:cNvSpPr/>
          <p:nvPr/>
        </p:nvSpPr>
        <p:spPr>
          <a:xfrm>
            <a:off x="4480560" y="1143000"/>
            <a:ext cx="4480560" cy="3785616"/>
          </a:xfrm>
          <a:prstGeom prst="rect">
            <a:avLst/>
          </a:prstGeom>
          <a:solidFill>
            <a:srgbClr val="F4F4F4"/>
          </a:solidFill>
          <a:ln w="12700">
            <a:solidFill>
              <a:srgbClr val="CCCCCC"/>
            </a:solidFill>
            <a:prstDash val="solid"/>
          </a:ln>
        </p:spPr>
      </p:sp>
      <p:sp>
        <p:nvSpPr>
          <p:cNvPr id="11" name="Text 8"/>
          <p:cNvSpPr txBox="1"/>
          <p:nvPr/>
        </p:nvSpPr>
        <p:spPr>
          <a:xfrm>
            <a:off x="4572000" y="1188720"/>
            <a:ext cx="4297680" cy="256032"/>
          </a:xfrm>
          <a:prstGeom prst="rect">
            <a:avLst/>
          </a:prstGeom>
          <a:noFill/>
          <a:ln/>
        </p:spPr>
        <p:txBody>
          <a:bodyPr wrap="square" rtlCol="0" anchor="ctr"/>
          <a:lstStyle/>
          <a:p>
            <a:pPr indent="0" marL="0">
              <a:buNone/>
            </a:pPr>
            <a:r>
              <a:rPr lang="en-US" sz="1050" b="1" dirty="0">
                <a:solidFill>
                  <a:srgbClr val="C8102E"/>
                </a:solidFill>
              </a:rPr>
              <a:t>Closest prior work</a:t>
            </a:r>
            <a:endParaRPr lang="en-US" sz="1050" dirty="0"/>
          </a:p>
        </p:txBody>
      </p:sp>
      <p:sp>
        <p:nvSpPr>
          <p:cNvPr id="12" name="Shape 9"/>
          <p:cNvSpPr/>
          <p:nvPr/>
        </p:nvSpPr>
        <p:spPr>
          <a:xfrm>
            <a:off x="4572000" y="1481328"/>
            <a:ext cx="4297680" cy="1188720"/>
          </a:xfrm>
          <a:prstGeom prst="rect">
            <a:avLst/>
          </a:prstGeom>
          <a:solidFill>
            <a:srgbClr val="FFFFFF"/>
          </a:solidFill>
          <a:ln w="12700">
            <a:solidFill>
              <a:srgbClr val="CCCCCC"/>
            </a:solidFill>
            <a:prstDash val="solid"/>
          </a:ln>
        </p:spPr>
      </p:sp>
      <p:sp>
        <p:nvSpPr>
          <p:cNvPr id="13" name="Text 10"/>
          <p:cNvSpPr txBox="1"/>
          <p:nvPr/>
        </p:nvSpPr>
        <p:spPr>
          <a:xfrm>
            <a:off x="4663440" y="1527048"/>
            <a:ext cx="4114800" cy="237744"/>
          </a:xfrm>
          <a:prstGeom prst="rect">
            <a:avLst/>
          </a:prstGeom>
          <a:noFill/>
          <a:ln/>
        </p:spPr>
        <p:txBody>
          <a:bodyPr wrap="square" rtlCol="0" anchor="ctr"/>
          <a:lstStyle/>
          <a:p>
            <a:pPr indent="0" marL="0">
              <a:buNone/>
            </a:pPr>
            <a:r>
              <a:rPr lang="en-US" sz="950" b="1" dirty="0">
                <a:solidFill>
                  <a:srgbClr val="1A1A1A"/>
                </a:solidFill>
              </a:rPr>
              <a:t>Liu, Felton and Mostafavi (2024)</a:t>
            </a:r>
            <a:endParaRPr lang="en-US" sz="950" dirty="0"/>
          </a:p>
        </p:txBody>
      </p:sp>
      <p:sp>
        <p:nvSpPr>
          <p:cNvPr id="14" name="Text 11"/>
          <p:cNvSpPr txBox="1"/>
          <p:nvPr/>
        </p:nvSpPr>
        <p:spPr>
          <a:xfrm>
            <a:off x="4663440" y="1783080"/>
            <a:ext cx="4114800" cy="777240"/>
          </a:xfrm>
          <a:prstGeom prst="rect">
            <a:avLst/>
          </a:prstGeom>
          <a:noFill/>
          <a:ln/>
        </p:spPr>
        <p:txBody>
          <a:bodyPr wrap="square" rtlCol="0" anchor="ctr"/>
          <a:lstStyle/>
          <a:p>
            <a:pPr indent="0" marL="0">
              <a:buNone/>
            </a:pPr>
            <a:r>
              <a:rPr lang="en-US" sz="850" dirty="0">
                <a:solidFill>
                  <a:srgbClr val="1A1A1A"/>
                </a:solidFill>
              </a:rPr>
              <a:t>Houston 311 flood data  •  ~0.80 accuracy  •  0.83–0.89 flood detection</a:t>
            </a:r>
            <a:endParaRPr lang="en-US" sz="850" dirty="0"/>
          </a:p>
          <a:p>
            <a:pPr indent="0" marL="0">
              <a:buNone/>
            </a:pPr>
            <a:r>
              <a:rPr lang="en-US" sz="850" dirty="0">
                <a:solidFill>
                  <a:srgbClr val="1A1A1A"/>
                </a:solidFill>
              </a:rPr>
              <a:t>sciencedirect.com/science/article/abs/pii/S0198971524000255</a:t>
            </a:r>
            <a:endParaRPr lang="en-US" sz="850" dirty="0"/>
          </a:p>
        </p:txBody>
      </p:sp>
      <p:sp>
        <p:nvSpPr>
          <p:cNvPr id="15" name="Shape 12"/>
          <p:cNvSpPr/>
          <p:nvPr/>
        </p:nvSpPr>
        <p:spPr>
          <a:xfrm>
            <a:off x="4572000" y="2743200"/>
            <a:ext cx="4297680" cy="384048"/>
          </a:xfrm>
          <a:prstGeom prst="rect">
            <a:avLst/>
          </a:prstGeom>
          <a:solidFill>
            <a:srgbClr val="C8102E"/>
          </a:solidFill>
          <a:ln/>
        </p:spPr>
      </p:sp>
      <p:sp>
        <p:nvSpPr>
          <p:cNvPr id="16" name="Text 13"/>
          <p:cNvSpPr txBox="1"/>
          <p:nvPr/>
        </p:nvSpPr>
        <p:spPr>
          <a:xfrm>
            <a:off x="4663440" y="2798064"/>
            <a:ext cx="4114800" cy="274320"/>
          </a:xfrm>
          <a:prstGeom prst="rect">
            <a:avLst/>
          </a:prstGeom>
          <a:noFill/>
          <a:ln/>
        </p:spPr>
        <p:txBody>
          <a:bodyPr wrap="square" rtlCol="0" anchor="ctr"/>
          <a:lstStyle/>
          <a:p>
            <a:pPr indent="0" marL="0">
              <a:buNone/>
            </a:pPr>
            <a:r>
              <a:rPr lang="en-US" sz="900" b="1" dirty="0">
                <a:solidFill>
                  <a:srgbClr val="FFFFFF"/>
                </a:solidFill>
              </a:rPr>
              <a:t>Our benchmark to beat: ~80% accuracy, 83–89% flood recall</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0" y="3200400"/>
          <a:ext cx="4297680" cy="914400"/>
        </p:xfrm>
        <a:graphic>
          <a:graphicData uri="http://schemas.openxmlformats.org/drawingml/2006/table">
            <a:tbl>
              <a:tblPr/>
              <a:tblGrid>
                <a:gridCol w="1005840"/>
                <a:gridCol w="1554480"/>
                <a:gridCol w="1737360"/>
              </a:tblGrid>
              <a:tr h="0">
                <a:tc>
                  <a:txBody>
                    <a:bodyPr/>
                    <a:lstStyle/>
                    <a:p>
                      <a:pPr indent="0" marL="0">
                        <a:buNone/>
                      </a:pPr>
                      <a:endParaRPr lang="en-US" sz="850" dirty="0"/>
                    </a:p>
                  </a:txBody>
                  <a:tcPr marL="38100" marR="381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102E"/>
                    </a:solidFill>
                  </a:tcPr>
                </a:tc>
                <a:tc>
                  <a:txBody>
                    <a:bodyPr/>
                    <a:lstStyle/>
                    <a:p>
                      <a:pPr algn="ctr" indent="0" marL="0">
                        <a:buNone/>
                      </a:pPr>
                      <a:r>
                        <a:rPr lang="en-US" sz="850" b="1" dirty="0">
                          <a:solidFill>
                            <a:srgbClr val="FFFFFF"/>
                          </a:solidFill>
                        </a:rPr>
                        <a:t>Prior work</a:t>
                      </a:r>
                      <a:endParaRPr lang="en-US" sz="850" dirty="0"/>
                    </a:p>
                  </a:txBody>
                  <a:tcPr marL="38100" marR="381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102E"/>
                    </a:solidFill>
                  </a:tcPr>
                </a:tc>
                <a:tc>
                  <a:txBody>
                    <a:bodyPr/>
                    <a:lstStyle/>
                    <a:p>
                      <a:pPr algn="ctr" indent="0" marL="0">
                        <a:buNone/>
                      </a:pPr>
                      <a:r>
                        <a:rPr lang="en-US" sz="850" b="1" dirty="0">
                          <a:solidFill>
                            <a:srgbClr val="FFFFFF"/>
                          </a:solidFill>
                        </a:rPr>
                        <a:t>Our project</a:t>
                      </a:r>
                      <a:endParaRPr lang="en-US" sz="850" dirty="0"/>
                    </a:p>
                  </a:txBody>
                  <a:tcPr marL="38100" marR="381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102E"/>
                    </a:solidFill>
                  </a:tcPr>
                </a:tc>
              </a:tr>
              <a:tr h="0">
                <a:tc>
                  <a:txBody>
                    <a:bodyPr/>
                    <a:lstStyle/>
                    <a:p>
                      <a:pPr indent="0" marL="0">
                        <a:buNone/>
                      </a:pPr>
                      <a:r>
                        <a:rPr lang="en-US" sz="850" b="1" dirty="0">
                          <a:solidFill>
                            <a:srgbClr val="C8102E"/>
                          </a:solidFill>
                        </a:rPr>
                        <a:t>Data</a:t>
                      </a:r>
                      <a:endParaRPr lang="en-US" sz="850" dirty="0"/>
                    </a:p>
                  </a:txBody>
                  <a:tcPr marL="38100" marR="381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50" dirty="0">
                          <a:solidFill>
                            <a:srgbClr val="1A1A1A"/>
                          </a:solidFill>
                        </a:rPr>
                        <a:t>Prepared dataset</a:t>
                      </a:r>
                      <a:endParaRPr lang="en-US" sz="850" dirty="0"/>
                    </a:p>
                  </a:txBody>
                  <a:tcPr marL="38100" marR="381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50" b="1" dirty="0">
                          <a:solidFill>
                            <a:srgbClr val="1A1A1A"/>
                          </a:solidFill>
                        </a:rPr>
                        <a:t>Our own — 5 public sources</a:t>
                      </a:r>
                      <a:endParaRPr lang="en-US" sz="850" dirty="0"/>
                    </a:p>
                  </a:txBody>
                  <a:tcPr marL="38100" marR="381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C8102E"/>
                          </a:solidFill>
                        </a:rPr>
                        <a:t>Models</a:t>
                      </a:r>
                      <a:endParaRPr lang="en-US" sz="850" dirty="0"/>
                    </a:p>
                  </a:txBody>
                  <a:tcPr marL="38100" marR="381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4F4"/>
                    </a:solidFill>
                  </a:tcPr>
                </a:tc>
                <a:tc>
                  <a:txBody>
                    <a:bodyPr/>
                    <a:lstStyle/>
                    <a:p>
                      <a:pPr indent="0" marL="0">
                        <a:buNone/>
                      </a:pPr>
                      <a:r>
                        <a:rPr lang="en-US" sz="850" dirty="0">
                          <a:solidFill>
                            <a:srgbClr val="1A1A1A"/>
                          </a:solidFill>
                        </a:rPr>
                        <a:t>1–2 tree models</a:t>
                      </a:r>
                      <a:endParaRPr lang="en-US" sz="850" dirty="0"/>
                    </a:p>
                  </a:txBody>
                  <a:tcPr marL="38100" marR="381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4F4"/>
                    </a:solidFill>
                  </a:tcPr>
                </a:tc>
                <a:tc>
                  <a:txBody>
                    <a:bodyPr/>
                    <a:lstStyle/>
                    <a:p>
                      <a:pPr indent="0" marL="0">
                        <a:buNone/>
                      </a:pPr>
                      <a:r>
                        <a:rPr lang="en-US" sz="850" b="1" dirty="0">
                          <a:solidFill>
                            <a:srgbClr val="1A1A1A"/>
                          </a:solidFill>
                        </a:rPr>
                        <a:t>5 models incl. neural network + CNN</a:t>
                      </a:r>
                      <a:endParaRPr lang="en-US" sz="850" dirty="0"/>
                    </a:p>
                  </a:txBody>
                  <a:tcPr marL="38100" marR="381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4F4"/>
                    </a:solidFill>
                  </a:tcPr>
                </a:tc>
              </a:tr>
              <a:tr h="0">
                <a:tc>
                  <a:txBody>
                    <a:bodyPr/>
                    <a:lstStyle/>
                    <a:p>
                      <a:pPr indent="0" marL="0">
                        <a:buNone/>
                      </a:pPr>
                      <a:r>
                        <a:rPr lang="en-US" sz="850" b="1" dirty="0">
                          <a:solidFill>
                            <a:srgbClr val="C8102E"/>
                          </a:solidFill>
                        </a:rPr>
                        <a:t>Explains</a:t>
                      </a:r>
                      <a:endParaRPr lang="en-US" sz="850" dirty="0"/>
                    </a:p>
                  </a:txBody>
                  <a:tcPr marL="38100" marR="381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50" dirty="0">
                          <a:solidFill>
                            <a:srgbClr val="1A1A1A"/>
                          </a:solidFill>
                        </a:rPr>
                        <a:t>No</a:t>
                      </a:r>
                      <a:endParaRPr lang="en-US" sz="850" dirty="0"/>
                    </a:p>
                  </a:txBody>
                  <a:tcPr marL="38100" marR="381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50" b="1" dirty="0">
                          <a:solidFill>
                            <a:srgbClr val="1A1A1A"/>
                          </a:solidFill>
                        </a:rPr>
                        <a:t>SHAP on every model</a:t>
                      </a:r>
                      <a:endParaRPr lang="en-US" sz="850" dirty="0"/>
                    </a:p>
                  </a:txBody>
                  <a:tcPr marL="38100" marR="381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C8102E"/>
                          </a:solidFill>
                        </a:rPr>
                        <a:t>Testing</a:t>
                      </a:r>
                      <a:endParaRPr lang="en-US" sz="850" dirty="0"/>
                    </a:p>
                  </a:txBody>
                  <a:tcPr marL="38100" marR="381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4F4"/>
                    </a:solidFill>
                  </a:tcPr>
                </a:tc>
                <a:tc>
                  <a:txBody>
                    <a:bodyPr/>
                    <a:lstStyle/>
                    <a:p>
                      <a:pPr indent="0" marL="0">
                        <a:buNone/>
                      </a:pPr>
                      <a:r>
                        <a:rPr lang="en-US" sz="850" dirty="0">
                          <a:solidFill>
                            <a:srgbClr val="1A1A1A"/>
                          </a:solidFill>
                        </a:rPr>
                        <a:t>Random split</a:t>
                      </a:r>
                      <a:endParaRPr lang="en-US" sz="850" dirty="0"/>
                    </a:p>
                  </a:txBody>
                  <a:tcPr marL="38100" marR="381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4F4"/>
                    </a:solidFill>
                  </a:tcPr>
                </a:tc>
                <a:tc>
                  <a:txBody>
                    <a:bodyPr/>
                    <a:lstStyle/>
                    <a:p>
                      <a:pPr indent="0" marL="0">
                        <a:buNone/>
                      </a:pPr>
                      <a:r>
                        <a:rPr lang="en-US" sz="850" b="1" dirty="0">
                          <a:solidFill>
                            <a:srgbClr val="1A1A1A"/>
                          </a:solidFill>
                        </a:rPr>
                        <a:t>Held-out storm (Imelda 2019)</a:t>
                      </a:r>
                      <a:endParaRPr lang="en-US" sz="850" dirty="0"/>
                    </a:p>
                  </a:txBody>
                  <a:tcPr marL="38100" marR="381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4F4"/>
                    </a:solidFill>
                  </a:tcPr>
                </a:tc>
              </a:tr>
              <a:tr h="0">
                <a:tc>
                  <a:txBody>
                    <a:bodyPr/>
                    <a:lstStyle/>
                    <a:p>
                      <a:pPr indent="0" marL="0">
                        <a:buNone/>
                      </a:pPr>
                      <a:r>
                        <a:rPr lang="en-US" sz="850" b="1" dirty="0">
                          <a:solidFill>
                            <a:srgbClr val="C8102E"/>
                          </a:solidFill>
                        </a:rPr>
                        <a:t>Output</a:t>
                      </a:r>
                      <a:endParaRPr lang="en-US" sz="850" dirty="0"/>
                    </a:p>
                  </a:txBody>
                  <a:tcPr marL="38100" marR="381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50" dirty="0">
                          <a:solidFill>
                            <a:srgbClr val="1A1A1A"/>
                          </a:solidFill>
                        </a:rPr>
                        <a:t>Paper only</a:t>
                      </a:r>
                      <a:endParaRPr lang="en-US" sz="850" dirty="0"/>
                    </a:p>
                  </a:txBody>
                  <a:tcPr marL="38100" marR="381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850" b="1" dirty="0">
                          <a:solidFill>
                            <a:srgbClr val="1A1A1A"/>
                          </a:solidFill>
                        </a:rPr>
                        <a:t>Live map tool for residents</a:t>
                      </a:r>
                      <a:endParaRPr lang="en-US" sz="850" dirty="0"/>
                    </a:p>
                  </a:txBody>
                  <a:tcPr marL="38100" marR="381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C8102E"/>
          </a:solidFill>
          <a:ln/>
        </p:spPr>
      </p:sp>
      <p:sp>
        <p:nvSpPr>
          <p:cNvPr id="3" name="Text 1"/>
          <p:cNvSpPr txBox="1"/>
          <p:nvPr/>
        </p:nvSpPr>
        <p:spPr>
          <a:xfrm>
            <a:off x="164592" y="73152"/>
            <a:ext cx="6858000" cy="402336"/>
          </a:xfrm>
          <a:prstGeom prst="rect">
            <a:avLst/>
          </a:prstGeom>
          <a:noFill/>
          <a:ln/>
        </p:spPr>
        <p:txBody>
          <a:bodyPr wrap="square" rtlCol="0" anchor="ctr"/>
          <a:lstStyle/>
          <a:p>
            <a:pPr indent="0" marL="0">
              <a:buNone/>
            </a:pPr>
            <a:r>
              <a:rPr lang="en-US" sz="1600" b="1" dirty="0">
                <a:solidFill>
                  <a:srgbClr val="FFFFFF"/>
                </a:solidFill>
              </a:rPr>
              <a:t>Motivation — Why This Matters</a:t>
            </a:r>
            <a:endParaRPr lang="en-US" sz="1600" dirty="0"/>
          </a:p>
        </p:txBody>
      </p:sp>
      <p:sp>
        <p:nvSpPr>
          <p:cNvPr id="4" name="Text 2"/>
          <p:cNvSpPr txBox="1"/>
          <p:nvPr/>
        </p:nvSpPr>
        <p:spPr>
          <a:xfrm>
            <a:off x="7132320" y="109728"/>
            <a:ext cx="1920240" cy="320040"/>
          </a:xfrm>
          <a:prstGeom prst="rect">
            <a:avLst/>
          </a:prstGeom>
          <a:noFill/>
          <a:ln/>
        </p:spPr>
        <p:txBody>
          <a:bodyPr wrap="square" rtlCol="0" anchor="ctr"/>
          <a:lstStyle/>
          <a:p>
            <a:pPr algn="r" indent="0" marL="0">
              <a:buNone/>
            </a:pPr>
            <a:r>
              <a:rPr lang="en-US" sz="800" dirty="0">
                <a:solidFill>
                  <a:srgbClr val="FFCCCC"/>
                </a:solidFill>
              </a:rPr>
              <a:t>2  Motivation</a:t>
            </a:r>
            <a:endParaRPr lang="en-US" sz="800" dirty="0"/>
          </a:p>
        </p:txBody>
      </p:sp>
      <p:sp>
        <p:nvSpPr>
          <p:cNvPr id="5" name="Text 3"/>
          <p:cNvSpPr txBox="1"/>
          <p:nvPr/>
        </p:nvSpPr>
        <p:spPr>
          <a:xfrm>
            <a:off x="137160" y="4992624"/>
            <a:ext cx="8869680" cy="146304"/>
          </a:xfrm>
          <a:prstGeom prst="rect">
            <a:avLst/>
          </a:prstGeom>
          <a:noFill/>
          <a:ln/>
        </p:spPr>
        <p:txBody>
          <a:bodyPr wrap="square" rtlCol="0" anchor="ctr"/>
          <a:lstStyle/>
          <a:p>
            <a:pPr algn="ctr" indent="0" marL="0">
              <a:buNone/>
            </a:pPr>
            <a:r>
              <a:rPr lang="en-US" sz="700" dirty="0">
                <a:solidFill>
                  <a:srgbClr val="CCCCCC"/>
                </a:solidFill>
              </a:rPr>
              <a:t>COSC 6368 Artificial Intelligence  •  Fall 2026  •  3 / 6</a:t>
            </a:r>
            <a:endParaRPr lang="en-US" sz="700" dirty="0"/>
          </a:p>
        </p:txBody>
      </p:sp>
      <p:pic>
        <p:nvPicPr>
          <p:cNvPr id="6" name="Image 0" descr="preencoded.png">    </p:cNvPr>
          <p:cNvPicPr>
            <a:picLocks noChangeAspect="1"/>
          </p:cNvPicPr>
          <p:nvPr/>
        </p:nvPicPr>
        <p:blipFill>
          <a:blip r:embed="rId1"/>
          <a:stretch>
            <a:fillRect/>
          </a:stretch>
        </p:blipFill>
        <p:spPr>
          <a:xfrm>
            <a:off x="164592" y="621792"/>
            <a:ext cx="2194560" cy="1417320"/>
          </a:xfrm>
          <a:prstGeom prst="rect">
            <a:avLst/>
          </a:prstGeom>
        </p:spPr>
      </p:pic>
      <p:pic>
        <p:nvPicPr>
          <p:cNvPr id="7" name="Image 1" descr="preencoded.png">    </p:cNvPr>
          <p:cNvPicPr>
            <a:picLocks noChangeAspect="1"/>
          </p:cNvPicPr>
          <p:nvPr/>
        </p:nvPicPr>
        <p:blipFill>
          <a:blip r:embed="rId2"/>
          <a:stretch>
            <a:fillRect/>
          </a:stretch>
        </p:blipFill>
        <p:spPr>
          <a:xfrm>
            <a:off x="2450592" y="621792"/>
            <a:ext cx="2194560" cy="1417320"/>
          </a:xfrm>
          <a:prstGeom prst="rect">
            <a:avLst/>
          </a:prstGeom>
        </p:spPr>
      </p:pic>
      <p:sp>
        <p:nvSpPr>
          <p:cNvPr id="8" name="Text 4"/>
          <p:cNvSpPr txBox="1"/>
          <p:nvPr/>
        </p:nvSpPr>
        <p:spPr>
          <a:xfrm>
            <a:off x="4846320" y="658368"/>
            <a:ext cx="1371600" cy="822960"/>
          </a:xfrm>
          <a:prstGeom prst="rect">
            <a:avLst/>
          </a:prstGeom>
          <a:noFill/>
          <a:ln/>
        </p:spPr>
        <p:txBody>
          <a:bodyPr wrap="square" rtlCol="0" anchor="ctr"/>
          <a:lstStyle/>
          <a:p>
            <a:pPr algn="ctr" indent="0" marL="0">
              <a:buNone/>
            </a:pPr>
            <a:r>
              <a:rPr lang="en-US" sz="3200" b="1" dirty="0">
                <a:solidFill>
                  <a:srgbClr val="C8102E"/>
                </a:solidFill>
              </a:rPr>
              <a:t>39"</a:t>
            </a:r>
            <a:endParaRPr lang="en-US" sz="3200" dirty="0"/>
          </a:p>
        </p:txBody>
      </p:sp>
      <p:sp>
        <p:nvSpPr>
          <p:cNvPr id="9" name="Text 5"/>
          <p:cNvSpPr txBox="1"/>
          <p:nvPr/>
        </p:nvSpPr>
        <p:spPr>
          <a:xfrm>
            <a:off x="4846320" y="1481328"/>
            <a:ext cx="1371600" cy="411480"/>
          </a:xfrm>
          <a:prstGeom prst="rect">
            <a:avLst/>
          </a:prstGeom>
          <a:noFill/>
          <a:ln/>
        </p:spPr>
        <p:txBody>
          <a:bodyPr wrap="square" rtlCol="0" anchor="ctr"/>
          <a:lstStyle/>
          <a:p>
            <a:pPr algn="ctr" indent="0" marL="0">
              <a:buNone/>
            </a:pPr>
            <a:r>
              <a:rPr lang="en-US" sz="850" dirty="0">
                <a:solidFill>
                  <a:srgbClr val="1A1A1A"/>
                </a:solidFill>
              </a:rPr>
              <a:t>of rain in</a:t>
            </a:r>
            <a:endParaRPr lang="en-US" sz="850" dirty="0"/>
          </a:p>
          <a:p>
            <a:pPr algn="ctr" indent="0" marL="0">
              <a:buNone/>
            </a:pPr>
            <a:r>
              <a:rPr lang="en-US" sz="850" dirty="0">
                <a:solidFill>
                  <a:srgbClr val="1A1A1A"/>
                </a:solidFill>
              </a:rPr>
              <a:t>one month</a:t>
            </a:r>
            <a:endParaRPr lang="en-US" sz="850" dirty="0"/>
          </a:p>
        </p:txBody>
      </p:sp>
      <p:sp>
        <p:nvSpPr>
          <p:cNvPr id="10" name="Text 6"/>
          <p:cNvSpPr txBox="1"/>
          <p:nvPr/>
        </p:nvSpPr>
        <p:spPr>
          <a:xfrm>
            <a:off x="4846320" y="1883664"/>
            <a:ext cx="1371600" cy="228600"/>
          </a:xfrm>
          <a:prstGeom prst="rect">
            <a:avLst/>
          </a:prstGeom>
          <a:noFill/>
          <a:ln/>
        </p:spPr>
        <p:txBody>
          <a:bodyPr wrap="square" rtlCol="0" anchor="ctr"/>
          <a:lstStyle/>
          <a:p>
            <a:pPr algn="ctr" indent="0" marL="0">
              <a:buNone/>
            </a:pPr>
            <a:r>
              <a:rPr lang="en-US" sz="750" i="1" dirty="0">
                <a:solidFill>
                  <a:srgbClr val="555555"/>
                </a:solidFill>
              </a:rPr>
              <a:t>Harvey, Aug 2017</a:t>
            </a:r>
            <a:endParaRPr lang="en-US" sz="750" dirty="0"/>
          </a:p>
        </p:txBody>
      </p:sp>
      <p:sp>
        <p:nvSpPr>
          <p:cNvPr id="11" name="Text 7"/>
          <p:cNvSpPr txBox="1"/>
          <p:nvPr/>
        </p:nvSpPr>
        <p:spPr>
          <a:xfrm>
            <a:off x="6355080" y="658368"/>
            <a:ext cx="1371600" cy="822960"/>
          </a:xfrm>
          <a:prstGeom prst="rect">
            <a:avLst/>
          </a:prstGeom>
          <a:noFill/>
          <a:ln/>
        </p:spPr>
        <p:txBody>
          <a:bodyPr wrap="square" rtlCol="0" anchor="ctr"/>
          <a:lstStyle/>
          <a:p>
            <a:pPr algn="ctr" indent="0" marL="0">
              <a:buNone/>
            </a:pPr>
            <a:r>
              <a:rPr lang="en-US" sz="3200" b="1" dirty="0">
                <a:solidFill>
                  <a:srgbClr val="C8102E"/>
                </a:solidFill>
              </a:rPr>
              <a:t>25–30%</a:t>
            </a:r>
            <a:endParaRPr lang="en-US" sz="3200" dirty="0"/>
          </a:p>
        </p:txBody>
      </p:sp>
      <p:sp>
        <p:nvSpPr>
          <p:cNvPr id="12" name="Text 8"/>
          <p:cNvSpPr txBox="1"/>
          <p:nvPr/>
        </p:nvSpPr>
        <p:spPr>
          <a:xfrm>
            <a:off x="6355080" y="1481328"/>
            <a:ext cx="1371600" cy="411480"/>
          </a:xfrm>
          <a:prstGeom prst="rect">
            <a:avLst/>
          </a:prstGeom>
          <a:noFill/>
          <a:ln/>
        </p:spPr>
        <p:txBody>
          <a:bodyPr wrap="square" rtlCol="0" anchor="ctr"/>
          <a:lstStyle/>
          <a:p>
            <a:pPr algn="ctr" indent="0" marL="0">
              <a:buNone/>
            </a:pPr>
            <a:r>
              <a:rPr lang="en-US" sz="850" dirty="0">
                <a:solidFill>
                  <a:srgbClr val="1A1A1A"/>
                </a:solidFill>
              </a:rPr>
              <a:t>of Harris County</a:t>
            </a:r>
            <a:endParaRPr lang="en-US" sz="850" dirty="0"/>
          </a:p>
          <a:p>
            <a:pPr algn="ctr" indent="0" marL="0">
              <a:buNone/>
            </a:pPr>
            <a:r>
              <a:rPr lang="en-US" sz="850" dirty="0">
                <a:solidFill>
                  <a:srgbClr val="1A1A1A"/>
                </a:solidFill>
              </a:rPr>
              <a:t>underwater</a:t>
            </a:r>
            <a:endParaRPr lang="en-US" sz="850" dirty="0"/>
          </a:p>
        </p:txBody>
      </p:sp>
      <p:sp>
        <p:nvSpPr>
          <p:cNvPr id="13" name="Text 9"/>
          <p:cNvSpPr txBox="1"/>
          <p:nvPr/>
        </p:nvSpPr>
        <p:spPr>
          <a:xfrm>
            <a:off x="6355080" y="1883664"/>
            <a:ext cx="1371600" cy="228600"/>
          </a:xfrm>
          <a:prstGeom prst="rect">
            <a:avLst/>
          </a:prstGeom>
          <a:noFill/>
          <a:ln/>
        </p:spPr>
        <p:txBody>
          <a:bodyPr wrap="square" rtlCol="0" anchor="ctr"/>
          <a:lstStyle/>
          <a:p>
            <a:pPr algn="ctr" indent="0" marL="0">
              <a:buNone/>
            </a:pPr>
            <a:r>
              <a:rPr lang="en-US" sz="750" i="1" dirty="0">
                <a:solidFill>
                  <a:srgbClr val="555555"/>
                </a:solidFill>
              </a:rPr>
              <a:t>Hurricane Harvey</a:t>
            </a:r>
            <a:endParaRPr lang="en-US" sz="750" dirty="0"/>
          </a:p>
        </p:txBody>
      </p:sp>
      <p:sp>
        <p:nvSpPr>
          <p:cNvPr id="14" name="Text 10"/>
          <p:cNvSpPr txBox="1"/>
          <p:nvPr/>
        </p:nvSpPr>
        <p:spPr>
          <a:xfrm>
            <a:off x="7818120" y="658368"/>
            <a:ext cx="1371600" cy="822960"/>
          </a:xfrm>
          <a:prstGeom prst="rect">
            <a:avLst/>
          </a:prstGeom>
          <a:noFill/>
          <a:ln/>
        </p:spPr>
        <p:txBody>
          <a:bodyPr wrap="square" rtlCol="0" anchor="ctr"/>
          <a:lstStyle/>
          <a:p>
            <a:pPr algn="ctr" indent="0" marL="0">
              <a:buNone/>
            </a:pPr>
            <a:r>
              <a:rPr lang="en-US" sz="3200" b="1" dirty="0">
                <a:solidFill>
                  <a:srgbClr val="C8102E"/>
                </a:solidFill>
              </a:rPr>
              <a:t>15%</a:t>
            </a:r>
            <a:endParaRPr lang="en-US" sz="3200" dirty="0"/>
          </a:p>
        </p:txBody>
      </p:sp>
      <p:sp>
        <p:nvSpPr>
          <p:cNvPr id="15" name="Text 11"/>
          <p:cNvSpPr txBox="1"/>
          <p:nvPr/>
        </p:nvSpPr>
        <p:spPr>
          <a:xfrm>
            <a:off x="7818120" y="1481328"/>
            <a:ext cx="1371600" cy="411480"/>
          </a:xfrm>
          <a:prstGeom prst="rect">
            <a:avLst/>
          </a:prstGeom>
          <a:noFill/>
          <a:ln/>
        </p:spPr>
        <p:txBody>
          <a:bodyPr wrap="square" rtlCol="0" anchor="ctr"/>
          <a:lstStyle/>
          <a:p>
            <a:pPr algn="ctr" indent="0" marL="0">
              <a:buNone/>
            </a:pPr>
            <a:r>
              <a:rPr lang="en-US" sz="850" dirty="0">
                <a:solidFill>
                  <a:srgbClr val="1A1A1A"/>
                </a:solidFill>
              </a:rPr>
              <a:t>of homes had</a:t>
            </a:r>
            <a:endParaRPr lang="en-US" sz="850" dirty="0"/>
          </a:p>
          <a:p>
            <a:pPr algn="ctr" indent="0" marL="0">
              <a:buNone/>
            </a:pPr>
            <a:r>
              <a:rPr lang="en-US" sz="850" dirty="0">
                <a:solidFill>
                  <a:srgbClr val="1A1A1A"/>
                </a:solidFill>
              </a:rPr>
              <a:t>flood insurance</a:t>
            </a:r>
            <a:endParaRPr lang="en-US" sz="850" dirty="0"/>
          </a:p>
        </p:txBody>
      </p:sp>
      <p:sp>
        <p:nvSpPr>
          <p:cNvPr id="16" name="Text 12"/>
          <p:cNvSpPr txBox="1"/>
          <p:nvPr/>
        </p:nvSpPr>
        <p:spPr>
          <a:xfrm>
            <a:off x="7818120" y="1883664"/>
            <a:ext cx="1371600" cy="228600"/>
          </a:xfrm>
          <a:prstGeom prst="rect">
            <a:avLst/>
          </a:prstGeom>
          <a:noFill/>
          <a:ln/>
        </p:spPr>
        <p:txBody>
          <a:bodyPr wrap="square" rtlCol="0" anchor="ctr"/>
          <a:lstStyle/>
          <a:p>
            <a:pPr algn="ctr" indent="0" marL="0">
              <a:buNone/>
            </a:pPr>
            <a:r>
              <a:rPr lang="en-US" sz="750" i="1" dirty="0">
                <a:solidFill>
                  <a:srgbClr val="555555"/>
                </a:solidFill>
              </a:rPr>
              <a:t>Harris County</a:t>
            </a:r>
            <a:endParaRPr lang="en-US" sz="750" dirty="0"/>
          </a:p>
        </p:txBody>
      </p:sp>
      <p:sp>
        <p:nvSpPr>
          <p:cNvPr id="17" name="Shape 13"/>
          <p:cNvSpPr/>
          <p:nvPr/>
        </p:nvSpPr>
        <p:spPr>
          <a:xfrm>
            <a:off x="164592" y="2331720"/>
            <a:ext cx="8814816" cy="0"/>
          </a:xfrm>
          <a:prstGeom prst="line">
            <a:avLst/>
          </a:prstGeom>
          <a:noFill/>
          <a:ln w="31750">
            <a:solidFill>
              <a:srgbClr val="C8102E"/>
            </a:solidFill>
            <a:prstDash val="solid"/>
          </a:ln>
        </p:spPr>
      </p:sp>
      <p:sp>
        <p:nvSpPr>
          <p:cNvPr id="18" name="Shape 14"/>
          <p:cNvSpPr/>
          <p:nvPr/>
        </p:nvSpPr>
        <p:spPr>
          <a:xfrm>
            <a:off x="822960" y="2231136"/>
            <a:ext cx="201168" cy="201168"/>
          </a:xfrm>
          <a:prstGeom prst="ellipse">
            <a:avLst/>
          </a:prstGeom>
          <a:solidFill>
            <a:srgbClr val="C8102E"/>
          </a:solidFill>
          <a:ln/>
        </p:spPr>
      </p:sp>
      <p:sp>
        <p:nvSpPr>
          <p:cNvPr id="19" name="Text 15"/>
          <p:cNvSpPr txBox="1"/>
          <p:nvPr/>
        </p:nvSpPr>
        <p:spPr>
          <a:xfrm>
            <a:off x="274320" y="2450592"/>
            <a:ext cx="1280160" cy="237744"/>
          </a:xfrm>
          <a:prstGeom prst="rect">
            <a:avLst/>
          </a:prstGeom>
          <a:noFill/>
          <a:ln/>
        </p:spPr>
        <p:txBody>
          <a:bodyPr wrap="square" rtlCol="0" anchor="ctr"/>
          <a:lstStyle/>
          <a:p>
            <a:pPr algn="ctr" indent="0" marL="0">
              <a:buNone/>
            </a:pPr>
            <a:r>
              <a:rPr lang="en-US" sz="1100" b="1" dirty="0">
                <a:solidFill>
                  <a:srgbClr val="C8102E"/>
                </a:solidFill>
              </a:rPr>
              <a:t>2015</a:t>
            </a:r>
            <a:endParaRPr lang="en-US" sz="1100" dirty="0"/>
          </a:p>
        </p:txBody>
      </p:sp>
      <p:sp>
        <p:nvSpPr>
          <p:cNvPr id="20" name="Text 16"/>
          <p:cNvSpPr txBox="1"/>
          <p:nvPr/>
        </p:nvSpPr>
        <p:spPr>
          <a:xfrm>
            <a:off x="274320" y="2688336"/>
            <a:ext cx="1280160" cy="365760"/>
          </a:xfrm>
          <a:prstGeom prst="rect">
            <a:avLst/>
          </a:prstGeom>
          <a:noFill/>
          <a:ln/>
        </p:spPr>
        <p:txBody>
          <a:bodyPr wrap="square" rtlCol="0" anchor="ctr"/>
          <a:lstStyle/>
          <a:p>
            <a:pPr algn="ctr" indent="0" marL="0">
              <a:buNone/>
            </a:pPr>
            <a:r>
              <a:rPr lang="en-US" sz="850" dirty="0">
                <a:solidFill>
                  <a:srgbClr val="1A1A1A"/>
                </a:solidFill>
              </a:rPr>
              <a:t>Memorial Day</a:t>
            </a:r>
            <a:endParaRPr lang="en-US" sz="850" dirty="0"/>
          </a:p>
          <a:p>
            <a:pPr algn="ctr" indent="0" marL="0">
              <a:buNone/>
            </a:pPr>
            <a:r>
              <a:rPr lang="en-US" sz="850" dirty="0">
                <a:solidFill>
                  <a:srgbClr val="1A1A1A"/>
                </a:solidFill>
              </a:rPr>
              <a:t>Flood</a:t>
            </a:r>
            <a:endParaRPr lang="en-US" sz="850" dirty="0"/>
          </a:p>
        </p:txBody>
      </p:sp>
      <p:sp>
        <p:nvSpPr>
          <p:cNvPr id="21" name="Shape 17"/>
          <p:cNvSpPr/>
          <p:nvPr/>
        </p:nvSpPr>
        <p:spPr>
          <a:xfrm>
            <a:off x="2926080" y="2231136"/>
            <a:ext cx="201168" cy="201168"/>
          </a:xfrm>
          <a:prstGeom prst="ellipse">
            <a:avLst/>
          </a:prstGeom>
          <a:solidFill>
            <a:srgbClr val="C8102E"/>
          </a:solidFill>
          <a:ln/>
        </p:spPr>
      </p:sp>
      <p:sp>
        <p:nvSpPr>
          <p:cNvPr id="22" name="Text 18"/>
          <p:cNvSpPr txBox="1"/>
          <p:nvPr/>
        </p:nvSpPr>
        <p:spPr>
          <a:xfrm>
            <a:off x="2377440" y="2450592"/>
            <a:ext cx="1280160" cy="237744"/>
          </a:xfrm>
          <a:prstGeom prst="rect">
            <a:avLst/>
          </a:prstGeom>
          <a:noFill/>
          <a:ln/>
        </p:spPr>
        <p:txBody>
          <a:bodyPr wrap="square" rtlCol="0" anchor="ctr"/>
          <a:lstStyle/>
          <a:p>
            <a:pPr algn="ctr" indent="0" marL="0">
              <a:buNone/>
            </a:pPr>
            <a:r>
              <a:rPr lang="en-US" sz="1100" b="1" dirty="0">
                <a:solidFill>
                  <a:srgbClr val="C8102E"/>
                </a:solidFill>
              </a:rPr>
              <a:t>2016</a:t>
            </a:r>
            <a:endParaRPr lang="en-US" sz="1100" dirty="0"/>
          </a:p>
        </p:txBody>
      </p:sp>
      <p:sp>
        <p:nvSpPr>
          <p:cNvPr id="23" name="Text 19"/>
          <p:cNvSpPr txBox="1"/>
          <p:nvPr/>
        </p:nvSpPr>
        <p:spPr>
          <a:xfrm>
            <a:off x="2377440" y="2688336"/>
            <a:ext cx="1280160" cy="365760"/>
          </a:xfrm>
          <a:prstGeom prst="rect">
            <a:avLst/>
          </a:prstGeom>
          <a:noFill/>
          <a:ln/>
        </p:spPr>
        <p:txBody>
          <a:bodyPr wrap="square" rtlCol="0" anchor="ctr"/>
          <a:lstStyle/>
          <a:p>
            <a:pPr algn="ctr" indent="0" marL="0">
              <a:buNone/>
            </a:pPr>
            <a:r>
              <a:rPr lang="en-US" sz="850" dirty="0">
                <a:solidFill>
                  <a:srgbClr val="1A1A1A"/>
                </a:solidFill>
              </a:rPr>
              <a:t>Tax Day</a:t>
            </a:r>
            <a:endParaRPr lang="en-US" sz="850" dirty="0"/>
          </a:p>
          <a:p>
            <a:pPr algn="ctr" indent="0" marL="0">
              <a:buNone/>
            </a:pPr>
            <a:r>
              <a:rPr lang="en-US" sz="850" dirty="0">
                <a:solidFill>
                  <a:srgbClr val="1A1A1A"/>
                </a:solidFill>
              </a:rPr>
              <a:t>Flood</a:t>
            </a:r>
            <a:endParaRPr lang="en-US" sz="850" dirty="0"/>
          </a:p>
        </p:txBody>
      </p:sp>
      <p:sp>
        <p:nvSpPr>
          <p:cNvPr id="24" name="Shape 20"/>
          <p:cNvSpPr/>
          <p:nvPr/>
        </p:nvSpPr>
        <p:spPr>
          <a:xfrm>
            <a:off x="5029200" y="2231136"/>
            <a:ext cx="201168" cy="201168"/>
          </a:xfrm>
          <a:prstGeom prst="ellipse">
            <a:avLst/>
          </a:prstGeom>
          <a:solidFill>
            <a:srgbClr val="C8102E"/>
          </a:solidFill>
          <a:ln/>
        </p:spPr>
      </p:sp>
      <p:sp>
        <p:nvSpPr>
          <p:cNvPr id="25" name="Text 21"/>
          <p:cNvSpPr txBox="1"/>
          <p:nvPr/>
        </p:nvSpPr>
        <p:spPr>
          <a:xfrm>
            <a:off x="4480560" y="2450592"/>
            <a:ext cx="1280160" cy="237744"/>
          </a:xfrm>
          <a:prstGeom prst="rect">
            <a:avLst/>
          </a:prstGeom>
          <a:noFill/>
          <a:ln/>
        </p:spPr>
        <p:txBody>
          <a:bodyPr wrap="square" rtlCol="0" anchor="ctr"/>
          <a:lstStyle/>
          <a:p>
            <a:pPr algn="ctr" indent="0" marL="0">
              <a:buNone/>
            </a:pPr>
            <a:r>
              <a:rPr lang="en-US" sz="1100" b="1" dirty="0">
                <a:solidFill>
                  <a:srgbClr val="C8102E"/>
                </a:solidFill>
              </a:rPr>
              <a:t>2017</a:t>
            </a:r>
            <a:endParaRPr lang="en-US" sz="1100" dirty="0"/>
          </a:p>
        </p:txBody>
      </p:sp>
      <p:sp>
        <p:nvSpPr>
          <p:cNvPr id="26" name="Text 22"/>
          <p:cNvSpPr txBox="1"/>
          <p:nvPr/>
        </p:nvSpPr>
        <p:spPr>
          <a:xfrm>
            <a:off x="4480560" y="2688336"/>
            <a:ext cx="1280160" cy="365760"/>
          </a:xfrm>
          <a:prstGeom prst="rect">
            <a:avLst/>
          </a:prstGeom>
          <a:noFill/>
          <a:ln/>
        </p:spPr>
        <p:txBody>
          <a:bodyPr wrap="square" rtlCol="0" anchor="ctr"/>
          <a:lstStyle/>
          <a:p>
            <a:pPr algn="ctr" indent="0" marL="0">
              <a:buNone/>
            </a:pPr>
            <a:r>
              <a:rPr lang="en-US" sz="850" dirty="0">
                <a:solidFill>
                  <a:srgbClr val="1A1A1A"/>
                </a:solidFill>
              </a:rPr>
              <a:t>Hurricane</a:t>
            </a:r>
            <a:endParaRPr lang="en-US" sz="850" dirty="0"/>
          </a:p>
          <a:p>
            <a:pPr algn="ctr" indent="0" marL="0">
              <a:buNone/>
            </a:pPr>
            <a:r>
              <a:rPr lang="en-US" sz="850" dirty="0">
                <a:solidFill>
                  <a:srgbClr val="1A1A1A"/>
                </a:solidFill>
              </a:rPr>
              <a:t>Harvey</a:t>
            </a:r>
            <a:endParaRPr lang="en-US" sz="850" dirty="0"/>
          </a:p>
        </p:txBody>
      </p:sp>
      <p:sp>
        <p:nvSpPr>
          <p:cNvPr id="27" name="Shape 23"/>
          <p:cNvSpPr/>
          <p:nvPr/>
        </p:nvSpPr>
        <p:spPr>
          <a:xfrm>
            <a:off x="7315200" y="2231136"/>
            <a:ext cx="201168" cy="201168"/>
          </a:xfrm>
          <a:prstGeom prst="ellipse">
            <a:avLst/>
          </a:prstGeom>
          <a:solidFill>
            <a:srgbClr val="C8102E"/>
          </a:solidFill>
          <a:ln/>
        </p:spPr>
      </p:sp>
      <p:sp>
        <p:nvSpPr>
          <p:cNvPr id="28" name="Text 24"/>
          <p:cNvSpPr txBox="1"/>
          <p:nvPr/>
        </p:nvSpPr>
        <p:spPr>
          <a:xfrm>
            <a:off x="6766560" y="2450592"/>
            <a:ext cx="1280160" cy="237744"/>
          </a:xfrm>
          <a:prstGeom prst="rect">
            <a:avLst/>
          </a:prstGeom>
          <a:noFill/>
          <a:ln/>
        </p:spPr>
        <p:txBody>
          <a:bodyPr wrap="square" rtlCol="0" anchor="ctr"/>
          <a:lstStyle/>
          <a:p>
            <a:pPr algn="ctr" indent="0" marL="0">
              <a:buNone/>
            </a:pPr>
            <a:r>
              <a:rPr lang="en-US" sz="1100" b="1" dirty="0">
                <a:solidFill>
                  <a:srgbClr val="C8102E"/>
                </a:solidFill>
              </a:rPr>
              <a:t>2019</a:t>
            </a:r>
            <a:endParaRPr lang="en-US" sz="1100" dirty="0"/>
          </a:p>
        </p:txBody>
      </p:sp>
      <p:sp>
        <p:nvSpPr>
          <p:cNvPr id="29" name="Text 25"/>
          <p:cNvSpPr txBox="1"/>
          <p:nvPr/>
        </p:nvSpPr>
        <p:spPr>
          <a:xfrm>
            <a:off x="6766560" y="2688336"/>
            <a:ext cx="1280160" cy="365760"/>
          </a:xfrm>
          <a:prstGeom prst="rect">
            <a:avLst/>
          </a:prstGeom>
          <a:noFill/>
          <a:ln/>
        </p:spPr>
        <p:txBody>
          <a:bodyPr wrap="square" rtlCol="0" anchor="ctr"/>
          <a:lstStyle/>
          <a:p>
            <a:pPr algn="ctr" indent="0" marL="0">
              <a:buNone/>
            </a:pPr>
            <a:r>
              <a:rPr lang="en-US" sz="850" dirty="0">
                <a:solidFill>
                  <a:srgbClr val="1A1A1A"/>
                </a:solidFill>
              </a:rPr>
              <a:t>Tropical Storm</a:t>
            </a:r>
            <a:endParaRPr lang="en-US" sz="850" dirty="0"/>
          </a:p>
          <a:p>
            <a:pPr algn="ctr" indent="0" marL="0">
              <a:buNone/>
            </a:pPr>
            <a:r>
              <a:rPr lang="en-US" sz="850" dirty="0">
                <a:solidFill>
                  <a:srgbClr val="1A1A1A"/>
                </a:solidFill>
              </a:rPr>
              <a:t>Imelda</a:t>
            </a:r>
            <a:endParaRPr lang="en-US" sz="850" dirty="0"/>
          </a:p>
        </p:txBody>
      </p:sp>
      <p:sp>
        <p:nvSpPr>
          <p:cNvPr id="30" name="Shape 26"/>
          <p:cNvSpPr/>
          <p:nvPr/>
        </p:nvSpPr>
        <p:spPr>
          <a:xfrm>
            <a:off x="164592" y="3182112"/>
            <a:ext cx="8814816" cy="502920"/>
          </a:xfrm>
          <a:prstGeom prst="rect">
            <a:avLst/>
          </a:prstGeom>
          <a:solidFill>
            <a:srgbClr val="C8102E"/>
          </a:solidFill>
          <a:ln/>
        </p:spPr>
      </p:sp>
      <p:sp>
        <p:nvSpPr>
          <p:cNvPr id="31" name="Text 27"/>
          <p:cNvSpPr txBox="1"/>
          <p:nvPr/>
        </p:nvSpPr>
        <p:spPr>
          <a:xfrm>
            <a:off x="274320" y="3246120"/>
            <a:ext cx="8595360" cy="365760"/>
          </a:xfrm>
          <a:prstGeom prst="rect">
            <a:avLst/>
          </a:prstGeom>
          <a:noFill/>
          <a:ln/>
        </p:spPr>
        <p:txBody>
          <a:bodyPr wrap="square" rtlCol="0" anchor="ctr"/>
          <a:lstStyle/>
          <a:p>
            <a:pPr indent="0" marL="0">
              <a:buNone/>
            </a:pPr>
            <a:r>
              <a:rPr lang="en-US" sz="1100" b="1" dirty="0">
                <a:solidFill>
                  <a:srgbClr val="FFFFFF"/>
                </a:solidFill>
              </a:rPr>
              <a:t>Houston floods repeatedly. No tool exists to warn individual residents which specific spot is at risk before a storm hits.</a:t>
            </a:r>
            <a:endParaRPr lang="en-US" sz="1100" dirty="0"/>
          </a:p>
        </p:txBody>
      </p:sp>
      <p:sp>
        <p:nvSpPr>
          <p:cNvPr id="32" name="Shape 28"/>
          <p:cNvSpPr/>
          <p:nvPr/>
        </p:nvSpPr>
        <p:spPr>
          <a:xfrm>
            <a:off x="164592" y="3749040"/>
            <a:ext cx="2834640" cy="1170432"/>
          </a:xfrm>
          <a:prstGeom prst="rect">
            <a:avLst/>
          </a:prstGeom>
          <a:solidFill>
            <a:srgbClr val="F4F4F4"/>
          </a:solidFill>
          <a:ln w="12700">
            <a:solidFill>
              <a:srgbClr val="CCCCCC"/>
            </a:solidFill>
            <a:prstDash val="solid"/>
          </a:ln>
        </p:spPr>
      </p:sp>
      <p:sp>
        <p:nvSpPr>
          <p:cNvPr id="33" name="Shape 29"/>
          <p:cNvSpPr/>
          <p:nvPr/>
        </p:nvSpPr>
        <p:spPr>
          <a:xfrm>
            <a:off x="164592" y="3749040"/>
            <a:ext cx="2834640" cy="274320"/>
          </a:xfrm>
          <a:prstGeom prst="rect">
            <a:avLst/>
          </a:prstGeom>
          <a:solidFill>
            <a:srgbClr val="7A0019"/>
          </a:solidFill>
          <a:ln/>
        </p:spPr>
      </p:sp>
      <p:sp>
        <p:nvSpPr>
          <p:cNvPr id="34" name="Text 30"/>
          <p:cNvSpPr txBox="1"/>
          <p:nvPr/>
        </p:nvSpPr>
        <p:spPr>
          <a:xfrm>
            <a:off x="237744" y="3776472"/>
            <a:ext cx="2688336" cy="219456"/>
          </a:xfrm>
          <a:prstGeom prst="rect">
            <a:avLst/>
          </a:prstGeom>
          <a:noFill/>
          <a:ln/>
        </p:spPr>
        <p:txBody>
          <a:bodyPr wrap="square" rtlCol="0" anchor="ctr"/>
          <a:lstStyle/>
          <a:p>
            <a:pPr indent="0" marL="0">
              <a:buNone/>
            </a:pPr>
            <a:r>
              <a:rPr lang="en-US" sz="900" b="1" dirty="0">
                <a:solidFill>
                  <a:srgbClr val="FFFFFF"/>
                </a:solidFill>
              </a:rPr>
              <a:t>Individual residents</a:t>
            </a:r>
            <a:endParaRPr lang="en-US" sz="900" dirty="0"/>
          </a:p>
        </p:txBody>
      </p:sp>
      <p:sp>
        <p:nvSpPr>
          <p:cNvPr id="35" name="Text 31"/>
          <p:cNvSpPr txBox="1"/>
          <p:nvPr/>
        </p:nvSpPr>
        <p:spPr>
          <a:xfrm>
            <a:off x="237744" y="4069080"/>
            <a:ext cx="2688336" cy="749808"/>
          </a:xfrm>
          <a:prstGeom prst="rect">
            <a:avLst/>
          </a:prstGeom>
          <a:noFill/>
          <a:ln/>
        </p:spPr>
        <p:txBody>
          <a:bodyPr wrap="square" rtlCol="0" anchor="ctr"/>
          <a:lstStyle/>
          <a:p>
            <a:pPr indent="0" marL="0">
              <a:buNone/>
            </a:pPr>
            <a:r>
              <a:rPr lang="en-US" sz="950" dirty="0">
                <a:solidFill>
                  <a:srgbClr val="1A1A1A"/>
                </a:solidFill>
              </a:rPr>
              <a:t>Know if YOUR address is high risk before a storm</a:t>
            </a:r>
            <a:endParaRPr lang="en-US" sz="950" dirty="0"/>
          </a:p>
        </p:txBody>
      </p:sp>
      <p:sp>
        <p:nvSpPr>
          <p:cNvPr id="36" name="Shape 32"/>
          <p:cNvSpPr/>
          <p:nvPr/>
        </p:nvSpPr>
        <p:spPr>
          <a:xfrm>
            <a:off x="3136392" y="3749040"/>
            <a:ext cx="2834640" cy="1170432"/>
          </a:xfrm>
          <a:prstGeom prst="rect">
            <a:avLst/>
          </a:prstGeom>
          <a:solidFill>
            <a:srgbClr val="F4F4F4"/>
          </a:solidFill>
          <a:ln w="12700">
            <a:solidFill>
              <a:srgbClr val="CCCCCC"/>
            </a:solidFill>
            <a:prstDash val="solid"/>
          </a:ln>
        </p:spPr>
      </p:sp>
      <p:sp>
        <p:nvSpPr>
          <p:cNvPr id="37" name="Shape 33"/>
          <p:cNvSpPr/>
          <p:nvPr/>
        </p:nvSpPr>
        <p:spPr>
          <a:xfrm>
            <a:off x="3136392" y="3749040"/>
            <a:ext cx="2834640" cy="274320"/>
          </a:xfrm>
          <a:prstGeom prst="rect">
            <a:avLst/>
          </a:prstGeom>
          <a:solidFill>
            <a:srgbClr val="7A0019"/>
          </a:solidFill>
          <a:ln/>
        </p:spPr>
      </p:sp>
      <p:sp>
        <p:nvSpPr>
          <p:cNvPr id="38" name="Text 34"/>
          <p:cNvSpPr txBox="1"/>
          <p:nvPr/>
        </p:nvSpPr>
        <p:spPr>
          <a:xfrm>
            <a:off x="3209544" y="3776472"/>
            <a:ext cx="2688336" cy="219456"/>
          </a:xfrm>
          <a:prstGeom prst="rect">
            <a:avLst/>
          </a:prstGeom>
          <a:noFill/>
          <a:ln/>
        </p:spPr>
        <p:txBody>
          <a:bodyPr wrap="square" rtlCol="0" anchor="ctr"/>
          <a:lstStyle/>
          <a:p>
            <a:pPr indent="0" marL="0">
              <a:buNone/>
            </a:pPr>
            <a:r>
              <a:rPr lang="en-US" sz="900" b="1" dirty="0">
                <a:solidFill>
                  <a:srgbClr val="FFFFFF"/>
                </a:solidFill>
              </a:rPr>
              <a:t>City planners</a:t>
            </a:r>
            <a:endParaRPr lang="en-US" sz="900" dirty="0"/>
          </a:p>
        </p:txBody>
      </p:sp>
      <p:sp>
        <p:nvSpPr>
          <p:cNvPr id="39" name="Text 35"/>
          <p:cNvSpPr txBox="1"/>
          <p:nvPr/>
        </p:nvSpPr>
        <p:spPr>
          <a:xfrm>
            <a:off x="3209544" y="4069080"/>
            <a:ext cx="2688336" cy="749808"/>
          </a:xfrm>
          <a:prstGeom prst="rect">
            <a:avLst/>
          </a:prstGeom>
          <a:noFill/>
          <a:ln/>
        </p:spPr>
        <p:txBody>
          <a:bodyPr wrap="square" rtlCol="0" anchor="ctr"/>
          <a:lstStyle/>
          <a:p>
            <a:pPr indent="0" marL="0">
              <a:buNone/>
            </a:pPr>
            <a:r>
              <a:rPr lang="en-US" sz="950" dirty="0">
                <a:solidFill>
                  <a:srgbClr val="1A1A1A"/>
                </a:solidFill>
              </a:rPr>
              <a:t>See which neighborhoods need drainage upgrades most</a:t>
            </a:r>
            <a:endParaRPr lang="en-US" sz="950" dirty="0"/>
          </a:p>
        </p:txBody>
      </p:sp>
      <p:sp>
        <p:nvSpPr>
          <p:cNvPr id="40" name="Shape 36"/>
          <p:cNvSpPr/>
          <p:nvPr/>
        </p:nvSpPr>
        <p:spPr>
          <a:xfrm>
            <a:off x="6108192" y="3749040"/>
            <a:ext cx="2834640" cy="1170432"/>
          </a:xfrm>
          <a:prstGeom prst="rect">
            <a:avLst/>
          </a:prstGeom>
          <a:solidFill>
            <a:srgbClr val="F4F4F4"/>
          </a:solidFill>
          <a:ln w="12700">
            <a:solidFill>
              <a:srgbClr val="CCCCCC"/>
            </a:solidFill>
            <a:prstDash val="solid"/>
          </a:ln>
        </p:spPr>
      </p:sp>
      <p:sp>
        <p:nvSpPr>
          <p:cNvPr id="41" name="Shape 37"/>
          <p:cNvSpPr/>
          <p:nvPr/>
        </p:nvSpPr>
        <p:spPr>
          <a:xfrm>
            <a:off x="6108192" y="3749040"/>
            <a:ext cx="2834640" cy="274320"/>
          </a:xfrm>
          <a:prstGeom prst="rect">
            <a:avLst/>
          </a:prstGeom>
          <a:solidFill>
            <a:srgbClr val="7A0019"/>
          </a:solidFill>
          <a:ln/>
        </p:spPr>
      </p:sp>
      <p:sp>
        <p:nvSpPr>
          <p:cNvPr id="42" name="Text 38"/>
          <p:cNvSpPr txBox="1"/>
          <p:nvPr/>
        </p:nvSpPr>
        <p:spPr>
          <a:xfrm>
            <a:off x="6181344" y="3776472"/>
            <a:ext cx="2688336" cy="219456"/>
          </a:xfrm>
          <a:prstGeom prst="rect">
            <a:avLst/>
          </a:prstGeom>
          <a:noFill/>
          <a:ln/>
        </p:spPr>
        <p:txBody>
          <a:bodyPr wrap="square" rtlCol="0" anchor="ctr"/>
          <a:lstStyle/>
          <a:p>
            <a:pPr indent="0" marL="0">
              <a:buNone/>
            </a:pPr>
            <a:r>
              <a:rPr lang="en-US" sz="900" b="1" dirty="0">
                <a:solidFill>
                  <a:srgbClr val="FFFFFF"/>
                </a:solidFill>
              </a:rPr>
              <a:t>First responders</a:t>
            </a:r>
            <a:endParaRPr lang="en-US" sz="900" dirty="0"/>
          </a:p>
        </p:txBody>
      </p:sp>
      <p:sp>
        <p:nvSpPr>
          <p:cNvPr id="43" name="Text 39"/>
          <p:cNvSpPr txBox="1"/>
          <p:nvPr/>
        </p:nvSpPr>
        <p:spPr>
          <a:xfrm>
            <a:off x="6181344" y="4069080"/>
            <a:ext cx="2688336" cy="749808"/>
          </a:xfrm>
          <a:prstGeom prst="rect">
            <a:avLst/>
          </a:prstGeom>
          <a:noFill/>
          <a:ln/>
        </p:spPr>
        <p:txBody>
          <a:bodyPr wrap="square" rtlCol="0" anchor="ctr"/>
          <a:lstStyle/>
          <a:p>
            <a:pPr indent="0" marL="0">
              <a:buNone/>
            </a:pPr>
            <a:r>
              <a:rPr lang="en-US" sz="950" dirty="0">
                <a:solidFill>
                  <a:srgbClr val="1A1A1A"/>
                </a:solidFill>
              </a:rPr>
              <a:t>Pre-position resources at highest-risk areas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C8102E"/>
          </a:solidFill>
          <a:ln/>
        </p:spPr>
      </p:sp>
      <p:sp>
        <p:nvSpPr>
          <p:cNvPr id="3" name="Text 1"/>
          <p:cNvSpPr txBox="1"/>
          <p:nvPr/>
        </p:nvSpPr>
        <p:spPr>
          <a:xfrm>
            <a:off x="164592" y="73152"/>
            <a:ext cx="6858000" cy="402336"/>
          </a:xfrm>
          <a:prstGeom prst="rect">
            <a:avLst/>
          </a:prstGeom>
          <a:noFill/>
          <a:ln/>
        </p:spPr>
        <p:txBody>
          <a:bodyPr wrap="square" rtlCol="0" anchor="ctr"/>
          <a:lstStyle/>
          <a:p>
            <a:pPr indent="0" marL="0">
              <a:buNone/>
            </a:pPr>
            <a:r>
              <a:rPr lang="en-US" sz="1600" b="1" dirty="0">
                <a:solidFill>
                  <a:srgbClr val="FFFFFF"/>
                </a:solidFill>
              </a:rPr>
              <a:t>Challenges — and How We Address Them</a:t>
            </a:r>
            <a:endParaRPr lang="en-US" sz="1600" dirty="0"/>
          </a:p>
        </p:txBody>
      </p:sp>
      <p:sp>
        <p:nvSpPr>
          <p:cNvPr id="4" name="Text 2"/>
          <p:cNvSpPr txBox="1"/>
          <p:nvPr/>
        </p:nvSpPr>
        <p:spPr>
          <a:xfrm>
            <a:off x="7132320" y="109728"/>
            <a:ext cx="1920240" cy="320040"/>
          </a:xfrm>
          <a:prstGeom prst="rect">
            <a:avLst/>
          </a:prstGeom>
          <a:noFill/>
          <a:ln/>
        </p:spPr>
        <p:txBody>
          <a:bodyPr wrap="square" rtlCol="0" anchor="ctr"/>
          <a:lstStyle/>
          <a:p>
            <a:pPr algn="r" indent="0" marL="0">
              <a:buNone/>
            </a:pPr>
            <a:r>
              <a:rPr lang="en-US" sz="800" dirty="0">
                <a:solidFill>
                  <a:srgbClr val="FFCCCC"/>
                </a:solidFill>
              </a:rPr>
              <a:t>3  Challenges</a:t>
            </a:r>
            <a:endParaRPr lang="en-US" sz="800" dirty="0"/>
          </a:p>
        </p:txBody>
      </p:sp>
      <p:sp>
        <p:nvSpPr>
          <p:cNvPr id="5" name="Text 3"/>
          <p:cNvSpPr txBox="1"/>
          <p:nvPr/>
        </p:nvSpPr>
        <p:spPr>
          <a:xfrm>
            <a:off x="137160" y="4992624"/>
            <a:ext cx="8869680" cy="146304"/>
          </a:xfrm>
          <a:prstGeom prst="rect">
            <a:avLst/>
          </a:prstGeom>
          <a:noFill/>
          <a:ln/>
        </p:spPr>
        <p:txBody>
          <a:bodyPr wrap="square" rtlCol="0" anchor="ctr"/>
          <a:lstStyle/>
          <a:p>
            <a:pPr algn="ctr" indent="0" marL="0">
              <a:buNone/>
            </a:pPr>
            <a:r>
              <a:rPr lang="en-US" sz="700" dirty="0">
                <a:solidFill>
                  <a:srgbClr val="CCCCCC"/>
                </a:solidFill>
              </a:rPr>
              <a:t>COSC 6368 Artificial Intelligence  •  Fall 2026  •  4 / 6</a:t>
            </a:r>
            <a:endParaRPr lang="en-US" sz="700" dirty="0"/>
          </a:p>
        </p:txBody>
      </p:sp>
      <p:pic>
        <p:nvPicPr>
          <p:cNvPr id="6" name="Image 0" descr="preencoded.png">    </p:cNvPr>
          <p:cNvPicPr>
            <a:picLocks noChangeAspect="1"/>
          </p:cNvPicPr>
          <p:nvPr/>
        </p:nvPicPr>
        <p:blipFill>
          <a:blip r:embed="rId1"/>
          <a:stretch>
            <a:fillRect/>
          </a:stretch>
        </p:blipFill>
        <p:spPr>
          <a:xfrm>
            <a:off x="164592" y="621792"/>
            <a:ext cx="8814816" cy="1371600"/>
          </a:xfrm>
          <a:prstGeom prst="rect">
            <a:avLst/>
          </a:prstGeom>
        </p:spPr>
      </p:pic>
      <p:sp>
        <p:nvSpPr>
          <p:cNvPr id="7" name="Text 4"/>
          <p:cNvSpPr txBox="1"/>
          <p:nvPr/>
        </p:nvSpPr>
        <p:spPr>
          <a:xfrm>
            <a:off x="164592" y="2029968"/>
            <a:ext cx="1719072" cy="182880"/>
          </a:xfrm>
          <a:prstGeom prst="rect">
            <a:avLst/>
          </a:prstGeom>
          <a:noFill/>
          <a:ln/>
        </p:spPr>
        <p:txBody>
          <a:bodyPr wrap="square" rtlCol="0" anchor="ctr"/>
          <a:lstStyle/>
          <a:p>
            <a:pPr algn="ctr" indent="0" marL="0">
              <a:buNone/>
            </a:pPr>
            <a:r>
              <a:rPr lang="en-US" sz="750" b="1" dirty="0">
                <a:solidFill>
                  <a:srgbClr val="1A1A1A"/>
                </a:solidFill>
              </a:rPr>
              <a:t>Elevation (LiDAR)</a:t>
            </a:r>
            <a:endParaRPr lang="en-US" sz="750" dirty="0"/>
          </a:p>
        </p:txBody>
      </p:sp>
      <p:sp>
        <p:nvSpPr>
          <p:cNvPr id="8" name="Text 5"/>
          <p:cNvSpPr txBox="1"/>
          <p:nvPr/>
        </p:nvSpPr>
        <p:spPr>
          <a:xfrm>
            <a:off x="164592" y="2212848"/>
            <a:ext cx="1719072" cy="164592"/>
          </a:xfrm>
          <a:prstGeom prst="rect">
            <a:avLst/>
          </a:prstGeom>
          <a:noFill/>
          <a:ln/>
        </p:spPr>
        <p:txBody>
          <a:bodyPr wrap="square" rtlCol="0" anchor="ctr"/>
          <a:lstStyle/>
          <a:p>
            <a:pPr algn="ctr" indent="0" marL="0">
              <a:buNone/>
            </a:pPr>
            <a:r>
              <a:rPr lang="en-US" sz="700" dirty="0">
                <a:solidFill>
                  <a:srgbClr val="C8102E"/>
                </a:solidFill>
              </a:rPr>
              <a:t>data.tnris.org</a:t>
            </a:r>
            <a:endParaRPr lang="en-US" sz="700" dirty="0"/>
          </a:p>
        </p:txBody>
      </p:sp>
      <p:sp>
        <p:nvSpPr>
          <p:cNvPr id="9" name="Text 6"/>
          <p:cNvSpPr txBox="1"/>
          <p:nvPr/>
        </p:nvSpPr>
        <p:spPr>
          <a:xfrm>
            <a:off x="1929384" y="2029968"/>
            <a:ext cx="1719072" cy="182880"/>
          </a:xfrm>
          <a:prstGeom prst="rect">
            <a:avLst/>
          </a:prstGeom>
          <a:noFill/>
          <a:ln/>
        </p:spPr>
        <p:txBody>
          <a:bodyPr wrap="square" rtlCol="0" anchor="ctr"/>
          <a:lstStyle/>
          <a:p>
            <a:pPr algn="ctr" indent="0" marL="0">
              <a:buNone/>
            </a:pPr>
            <a:r>
              <a:rPr lang="en-US" sz="750" b="1" dirty="0">
                <a:solidFill>
                  <a:srgbClr val="1A1A1A"/>
                </a:solidFill>
              </a:rPr>
              <a:t>Streams &amp; Bayous</a:t>
            </a:r>
            <a:endParaRPr lang="en-US" sz="750" dirty="0"/>
          </a:p>
        </p:txBody>
      </p:sp>
      <p:sp>
        <p:nvSpPr>
          <p:cNvPr id="10" name="Text 7"/>
          <p:cNvSpPr txBox="1"/>
          <p:nvPr/>
        </p:nvSpPr>
        <p:spPr>
          <a:xfrm>
            <a:off x="1929384" y="2212848"/>
            <a:ext cx="1719072" cy="164592"/>
          </a:xfrm>
          <a:prstGeom prst="rect">
            <a:avLst/>
          </a:prstGeom>
          <a:noFill/>
          <a:ln/>
        </p:spPr>
        <p:txBody>
          <a:bodyPr wrap="square" rtlCol="0" anchor="ctr"/>
          <a:lstStyle/>
          <a:p>
            <a:pPr algn="ctr" indent="0" marL="0">
              <a:buNone/>
            </a:pPr>
            <a:r>
              <a:rPr lang="en-US" sz="700" dirty="0">
                <a:solidFill>
                  <a:srgbClr val="C8102E"/>
                </a:solidFill>
              </a:rPr>
              <a:t>apps.nationalmap.gov</a:t>
            </a:r>
            <a:endParaRPr lang="en-US" sz="700" dirty="0"/>
          </a:p>
        </p:txBody>
      </p:sp>
      <p:sp>
        <p:nvSpPr>
          <p:cNvPr id="11" name="Text 8"/>
          <p:cNvSpPr txBox="1"/>
          <p:nvPr/>
        </p:nvSpPr>
        <p:spPr>
          <a:xfrm>
            <a:off x="3694176" y="2029968"/>
            <a:ext cx="1719072" cy="182880"/>
          </a:xfrm>
          <a:prstGeom prst="rect">
            <a:avLst/>
          </a:prstGeom>
          <a:noFill/>
          <a:ln/>
        </p:spPr>
        <p:txBody>
          <a:bodyPr wrap="square" rtlCol="0" anchor="ctr"/>
          <a:lstStyle/>
          <a:p>
            <a:pPr algn="ctr" indent="0" marL="0">
              <a:buNone/>
            </a:pPr>
            <a:r>
              <a:rPr lang="en-US" sz="750" b="1" dirty="0">
                <a:solidFill>
                  <a:srgbClr val="1A1A1A"/>
                </a:solidFill>
              </a:rPr>
              <a:t>Paved % (NLCD)</a:t>
            </a:r>
            <a:endParaRPr lang="en-US" sz="750" dirty="0"/>
          </a:p>
        </p:txBody>
      </p:sp>
      <p:sp>
        <p:nvSpPr>
          <p:cNvPr id="12" name="Text 9"/>
          <p:cNvSpPr txBox="1"/>
          <p:nvPr/>
        </p:nvSpPr>
        <p:spPr>
          <a:xfrm>
            <a:off x="3694176" y="2212848"/>
            <a:ext cx="1719072" cy="164592"/>
          </a:xfrm>
          <a:prstGeom prst="rect">
            <a:avLst/>
          </a:prstGeom>
          <a:noFill/>
          <a:ln/>
        </p:spPr>
        <p:txBody>
          <a:bodyPr wrap="square" rtlCol="0" anchor="ctr"/>
          <a:lstStyle/>
          <a:p>
            <a:pPr algn="ctr" indent="0" marL="0">
              <a:buNone/>
            </a:pPr>
            <a:r>
              <a:rPr lang="en-US" sz="700" dirty="0">
                <a:solidFill>
                  <a:srgbClr val="C8102E"/>
                </a:solidFill>
              </a:rPr>
              <a:t>mrlc.gov/viewer</a:t>
            </a:r>
            <a:endParaRPr lang="en-US" sz="700" dirty="0"/>
          </a:p>
        </p:txBody>
      </p:sp>
      <p:sp>
        <p:nvSpPr>
          <p:cNvPr id="13" name="Text 10"/>
          <p:cNvSpPr txBox="1"/>
          <p:nvPr/>
        </p:nvSpPr>
        <p:spPr>
          <a:xfrm>
            <a:off x="5458968" y="2029968"/>
            <a:ext cx="1719072" cy="182880"/>
          </a:xfrm>
          <a:prstGeom prst="rect">
            <a:avLst/>
          </a:prstGeom>
          <a:noFill/>
          <a:ln/>
        </p:spPr>
        <p:txBody>
          <a:bodyPr wrap="square" rtlCol="0" anchor="ctr"/>
          <a:lstStyle/>
          <a:p>
            <a:pPr algn="ctr" indent="0" marL="0">
              <a:buNone/>
            </a:pPr>
            <a:r>
              <a:rPr lang="en-US" sz="750" b="1" dirty="0">
                <a:solidFill>
                  <a:srgbClr val="1A1A1A"/>
                </a:solidFill>
              </a:rPr>
              <a:t>Rainfall (NOAA)</a:t>
            </a:r>
            <a:endParaRPr lang="en-US" sz="750" dirty="0"/>
          </a:p>
        </p:txBody>
      </p:sp>
      <p:sp>
        <p:nvSpPr>
          <p:cNvPr id="14" name="Text 11"/>
          <p:cNvSpPr txBox="1"/>
          <p:nvPr/>
        </p:nvSpPr>
        <p:spPr>
          <a:xfrm>
            <a:off x="5458968" y="2212848"/>
            <a:ext cx="1719072" cy="164592"/>
          </a:xfrm>
          <a:prstGeom prst="rect">
            <a:avLst/>
          </a:prstGeom>
          <a:noFill/>
          <a:ln/>
        </p:spPr>
        <p:txBody>
          <a:bodyPr wrap="square" rtlCol="0" anchor="ctr"/>
          <a:lstStyle/>
          <a:p>
            <a:pPr algn="ctr" indent="0" marL="0">
              <a:buNone/>
            </a:pPr>
            <a:r>
              <a:rPr lang="en-US" sz="700" dirty="0">
                <a:solidFill>
                  <a:srgbClr val="C8102E"/>
                </a:solidFill>
              </a:rPr>
              <a:t>ncei.noaa.gov/cdo-web</a:t>
            </a:r>
            <a:endParaRPr lang="en-US" sz="700" dirty="0"/>
          </a:p>
        </p:txBody>
      </p:sp>
      <p:sp>
        <p:nvSpPr>
          <p:cNvPr id="15" name="Text 12"/>
          <p:cNvSpPr txBox="1"/>
          <p:nvPr/>
        </p:nvSpPr>
        <p:spPr>
          <a:xfrm>
            <a:off x="7223760" y="2029968"/>
            <a:ext cx="1719072" cy="182880"/>
          </a:xfrm>
          <a:prstGeom prst="rect">
            <a:avLst/>
          </a:prstGeom>
          <a:noFill/>
          <a:ln/>
        </p:spPr>
        <p:txBody>
          <a:bodyPr wrap="square" rtlCol="0" anchor="ctr"/>
          <a:lstStyle/>
          <a:p>
            <a:pPr algn="ctr" indent="0" marL="0">
              <a:buNone/>
            </a:pPr>
            <a:r>
              <a:rPr lang="en-US" sz="750" b="1" dirty="0">
                <a:solidFill>
                  <a:srgbClr val="1A1A1A"/>
                </a:solidFill>
              </a:rPr>
              <a:t>311 Flood Reports</a:t>
            </a:r>
            <a:endParaRPr lang="en-US" sz="750" dirty="0"/>
          </a:p>
        </p:txBody>
      </p:sp>
      <p:sp>
        <p:nvSpPr>
          <p:cNvPr id="16" name="Text 13"/>
          <p:cNvSpPr txBox="1"/>
          <p:nvPr/>
        </p:nvSpPr>
        <p:spPr>
          <a:xfrm>
            <a:off x="7223760" y="2212848"/>
            <a:ext cx="1719072" cy="164592"/>
          </a:xfrm>
          <a:prstGeom prst="rect">
            <a:avLst/>
          </a:prstGeom>
          <a:noFill/>
          <a:ln/>
        </p:spPr>
        <p:txBody>
          <a:bodyPr wrap="square" rtlCol="0" anchor="ctr"/>
          <a:lstStyle/>
          <a:p>
            <a:pPr algn="ctr" indent="0" marL="0">
              <a:buNone/>
            </a:pPr>
            <a:r>
              <a:rPr lang="en-US" sz="700" dirty="0">
                <a:solidFill>
                  <a:srgbClr val="C8102E"/>
                </a:solidFill>
              </a:rPr>
              <a:t>houstontx.gov/heatmaps</a:t>
            </a:r>
            <a:endParaRPr lang="en-US" sz="700" dirty="0"/>
          </a:p>
        </p:txBody>
      </p:sp>
      <p:sp>
        <p:nvSpPr>
          <p:cNvPr id="17" name="Shape 14"/>
          <p:cNvSpPr/>
          <p:nvPr/>
        </p:nvSpPr>
        <p:spPr>
          <a:xfrm>
            <a:off x="164592" y="2450592"/>
            <a:ext cx="4315968" cy="777240"/>
          </a:xfrm>
          <a:prstGeom prst="rect">
            <a:avLst/>
          </a:prstGeom>
          <a:solidFill>
            <a:srgbClr val="F4F4F4"/>
          </a:solidFill>
          <a:ln w="12700">
            <a:solidFill>
              <a:srgbClr val="CCCCCC"/>
            </a:solidFill>
            <a:prstDash val="solid"/>
          </a:ln>
        </p:spPr>
      </p:sp>
      <p:sp>
        <p:nvSpPr>
          <p:cNvPr id="18" name="Shape 15"/>
          <p:cNvSpPr/>
          <p:nvPr/>
        </p:nvSpPr>
        <p:spPr>
          <a:xfrm>
            <a:off x="164592" y="2450592"/>
            <a:ext cx="347472" cy="777240"/>
          </a:xfrm>
          <a:prstGeom prst="rect">
            <a:avLst/>
          </a:prstGeom>
          <a:solidFill>
            <a:srgbClr val="C8102E"/>
          </a:solidFill>
          <a:ln/>
        </p:spPr>
      </p:sp>
      <p:sp>
        <p:nvSpPr>
          <p:cNvPr id="19" name="Text 16"/>
          <p:cNvSpPr txBox="1"/>
          <p:nvPr/>
        </p:nvSpPr>
        <p:spPr>
          <a:xfrm>
            <a:off x="201168" y="2670048"/>
            <a:ext cx="274320" cy="329184"/>
          </a:xfrm>
          <a:prstGeom prst="rect">
            <a:avLst/>
          </a:prstGeom>
          <a:noFill/>
          <a:ln/>
        </p:spPr>
        <p:txBody>
          <a:bodyPr wrap="square" rtlCol="0" anchor="ctr"/>
          <a:lstStyle/>
          <a:p>
            <a:pPr indent="0" marL="0">
              <a:buNone/>
            </a:pPr>
            <a:r>
              <a:rPr lang="en-US" sz="1400" b="1" dirty="0">
                <a:solidFill>
                  <a:srgbClr val="FFFFFF"/>
                </a:solidFill>
              </a:rPr>
              <a:t>1</a:t>
            </a:r>
            <a:endParaRPr lang="en-US" sz="1400" dirty="0"/>
          </a:p>
        </p:txBody>
      </p:sp>
      <p:sp>
        <p:nvSpPr>
          <p:cNvPr id="20" name="Text 17"/>
          <p:cNvSpPr txBox="1"/>
          <p:nvPr/>
        </p:nvSpPr>
        <p:spPr>
          <a:xfrm>
            <a:off x="576072" y="2496312"/>
            <a:ext cx="3813048" cy="237744"/>
          </a:xfrm>
          <a:prstGeom prst="rect">
            <a:avLst/>
          </a:prstGeom>
          <a:noFill/>
          <a:ln/>
        </p:spPr>
        <p:txBody>
          <a:bodyPr wrap="square" rtlCol="0" anchor="ctr"/>
          <a:lstStyle/>
          <a:p>
            <a:pPr indent="0" marL="0">
              <a:buNone/>
            </a:pPr>
            <a:r>
              <a:rPr lang="en-US" sz="900" b="1" dirty="0">
                <a:solidFill>
                  <a:srgbClr val="C8102E"/>
                </a:solidFill>
              </a:rPr>
              <a:t>Challenge: Messy 311 text</a:t>
            </a:r>
            <a:endParaRPr lang="en-US" sz="900" dirty="0"/>
          </a:p>
        </p:txBody>
      </p:sp>
      <p:sp>
        <p:nvSpPr>
          <p:cNvPr id="21" name="Text 18"/>
          <p:cNvSpPr txBox="1"/>
          <p:nvPr/>
        </p:nvSpPr>
        <p:spPr>
          <a:xfrm>
            <a:off x="576072" y="2724912"/>
            <a:ext cx="3813048" cy="457200"/>
          </a:xfrm>
          <a:prstGeom prst="rect">
            <a:avLst/>
          </a:prstGeom>
          <a:noFill/>
          <a:ln/>
        </p:spPr>
        <p:txBody>
          <a:bodyPr wrap="square" rtlCol="0" anchor="ctr"/>
          <a:lstStyle/>
          <a:p>
            <a:pPr indent="0" marL="0">
              <a:buNone/>
            </a:pPr>
            <a:r>
              <a:rPr lang="en-US" sz="850" dirty="0">
                <a:solidFill>
                  <a:srgbClr val="1A1A1A"/>
                </a:solidFill>
              </a:rPr>
              <a:t>Fix: Filter flood categories, drop bad rows,</a:t>
            </a:r>
            <a:endParaRPr lang="en-US" sz="850" dirty="0"/>
          </a:p>
          <a:p>
            <a:pPr indent="0" marL="0">
              <a:buNone/>
            </a:pPr>
            <a:r>
              <a:rPr lang="en-US" sz="850" dirty="0">
                <a:solidFill>
                  <a:srgbClr val="1A1A1A"/>
                </a:solidFill>
              </a:rPr>
              <a:t>merge duplicates within 50m same day</a:t>
            </a:r>
            <a:endParaRPr lang="en-US" sz="850" dirty="0"/>
          </a:p>
        </p:txBody>
      </p:sp>
      <p:sp>
        <p:nvSpPr>
          <p:cNvPr id="22" name="Shape 19"/>
          <p:cNvSpPr/>
          <p:nvPr/>
        </p:nvSpPr>
        <p:spPr>
          <a:xfrm>
            <a:off x="164592" y="3291840"/>
            <a:ext cx="4315968" cy="777240"/>
          </a:xfrm>
          <a:prstGeom prst="rect">
            <a:avLst/>
          </a:prstGeom>
          <a:solidFill>
            <a:srgbClr val="F4F4F4"/>
          </a:solidFill>
          <a:ln w="12700">
            <a:solidFill>
              <a:srgbClr val="CCCCCC"/>
            </a:solidFill>
            <a:prstDash val="solid"/>
          </a:ln>
        </p:spPr>
      </p:sp>
      <p:sp>
        <p:nvSpPr>
          <p:cNvPr id="23" name="Shape 20"/>
          <p:cNvSpPr/>
          <p:nvPr/>
        </p:nvSpPr>
        <p:spPr>
          <a:xfrm>
            <a:off x="164592" y="3291840"/>
            <a:ext cx="347472" cy="777240"/>
          </a:xfrm>
          <a:prstGeom prst="rect">
            <a:avLst/>
          </a:prstGeom>
          <a:solidFill>
            <a:srgbClr val="C8102E"/>
          </a:solidFill>
          <a:ln/>
        </p:spPr>
      </p:sp>
      <p:sp>
        <p:nvSpPr>
          <p:cNvPr id="24" name="Text 21"/>
          <p:cNvSpPr txBox="1"/>
          <p:nvPr/>
        </p:nvSpPr>
        <p:spPr>
          <a:xfrm>
            <a:off x="201168" y="3511296"/>
            <a:ext cx="274320" cy="329184"/>
          </a:xfrm>
          <a:prstGeom prst="rect">
            <a:avLst/>
          </a:prstGeom>
          <a:noFill/>
          <a:ln/>
        </p:spPr>
        <p:txBody>
          <a:bodyPr wrap="square" rtlCol="0" anchor="ctr"/>
          <a:lstStyle/>
          <a:p>
            <a:pPr indent="0" marL="0">
              <a:buNone/>
            </a:pPr>
            <a:r>
              <a:rPr lang="en-US" sz="1400" b="1" dirty="0">
                <a:solidFill>
                  <a:srgbClr val="FFFFFF"/>
                </a:solidFill>
              </a:rPr>
              <a:t>2</a:t>
            </a:r>
            <a:endParaRPr lang="en-US" sz="1400" dirty="0"/>
          </a:p>
        </p:txBody>
      </p:sp>
      <p:sp>
        <p:nvSpPr>
          <p:cNvPr id="25" name="Text 22"/>
          <p:cNvSpPr txBox="1"/>
          <p:nvPr/>
        </p:nvSpPr>
        <p:spPr>
          <a:xfrm>
            <a:off x="576072" y="3337560"/>
            <a:ext cx="3813048" cy="237744"/>
          </a:xfrm>
          <a:prstGeom prst="rect">
            <a:avLst/>
          </a:prstGeom>
          <a:noFill/>
          <a:ln/>
        </p:spPr>
        <p:txBody>
          <a:bodyPr wrap="square" rtlCol="0" anchor="ctr"/>
          <a:lstStyle/>
          <a:p>
            <a:pPr indent="0" marL="0">
              <a:buNone/>
            </a:pPr>
            <a:r>
              <a:rPr lang="en-US" sz="900" b="1" dirty="0">
                <a:solidFill>
                  <a:srgbClr val="C8102E"/>
                </a:solidFill>
              </a:rPr>
              <a:t>Challenge: Huge raster map files</a:t>
            </a:r>
            <a:endParaRPr lang="en-US" sz="900" dirty="0"/>
          </a:p>
        </p:txBody>
      </p:sp>
      <p:sp>
        <p:nvSpPr>
          <p:cNvPr id="26" name="Text 23"/>
          <p:cNvSpPr txBox="1"/>
          <p:nvPr/>
        </p:nvSpPr>
        <p:spPr>
          <a:xfrm>
            <a:off x="576072" y="3566160"/>
            <a:ext cx="3813048" cy="457200"/>
          </a:xfrm>
          <a:prstGeom prst="rect">
            <a:avLst/>
          </a:prstGeom>
          <a:noFill/>
          <a:ln/>
        </p:spPr>
        <p:txBody>
          <a:bodyPr wrap="square" rtlCol="0" anchor="ctr"/>
          <a:lstStyle/>
          <a:p>
            <a:pPr indent="0" marL="0">
              <a:buNone/>
            </a:pPr>
            <a:r>
              <a:rPr lang="en-US" sz="850" dirty="0">
                <a:solidFill>
                  <a:srgbClr val="1A1A1A"/>
                </a:solidFill>
              </a:rPr>
              <a:t>Fix: Clip to Houston boundary, look up</a:t>
            </a:r>
            <a:endParaRPr lang="en-US" sz="850" dirty="0"/>
          </a:p>
          <a:p>
            <a:pPr indent="0" marL="0">
              <a:buNone/>
            </a:pPr>
            <a:r>
              <a:rPr lang="en-US" sz="850" dirty="0">
                <a:solidFill>
                  <a:srgbClr val="1A1A1A"/>
                </a:solidFill>
              </a:rPr>
              <a:t>one value per location point</a:t>
            </a:r>
            <a:endParaRPr lang="en-US" sz="850" dirty="0"/>
          </a:p>
        </p:txBody>
      </p:sp>
      <p:sp>
        <p:nvSpPr>
          <p:cNvPr id="27" name="Shape 24"/>
          <p:cNvSpPr/>
          <p:nvPr/>
        </p:nvSpPr>
        <p:spPr>
          <a:xfrm>
            <a:off x="164592" y="4133088"/>
            <a:ext cx="4315968" cy="777240"/>
          </a:xfrm>
          <a:prstGeom prst="rect">
            <a:avLst/>
          </a:prstGeom>
          <a:solidFill>
            <a:srgbClr val="F4F4F4"/>
          </a:solidFill>
          <a:ln w="12700">
            <a:solidFill>
              <a:srgbClr val="CCCCCC"/>
            </a:solidFill>
            <a:prstDash val="solid"/>
          </a:ln>
        </p:spPr>
      </p:sp>
      <p:sp>
        <p:nvSpPr>
          <p:cNvPr id="28" name="Shape 25"/>
          <p:cNvSpPr/>
          <p:nvPr/>
        </p:nvSpPr>
        <p:spPr>
          <a:xfrm>
            <a:off x="164592" y="4133088"/>
            <a:ext cx="347472" cy="777240"/>
          </a:xfrm>
          <a:prstGeom prst="rect">
            <a:avLst/>
          </a:prstGeom>
          <a:solidFill>
            <a:srgbClr val="C8102E"/>
          </a:solidFill>
          <a:ln/>
        </p:spPr>
      </p:sp>
      <p:sp>
        <p:nvSpPr>
          <p:cNvPr id="29" name="Text 26"/>
          <p:cNvSpPr txBox="1"/>
          <p:nvPr/>
        </p:nvSpPr>
        <p:spPr>
          <a:xfrm>
            <a:off x="201168" y="4352544"/>
            <a:ext cx="274320" cy="329184"/>
          </a:xfrm>
          <a:prstGeom prst="rect">
            <a:avLst/>
          </a:prstGeom>
          <a:noFill/>
          <a:ln/>
        </p:spPr>
        <p:txBody>
          <a:bodyPr wrap="square" rtlCol="0" anchor="ctr"/>
          <a:lstStyle/>
          <a:p>
            <a:pPr indent="0" marL="0">
              <a:buNone/>
            </a:pPr>
            <a:r>
              <a:rPr lang="en-US" sz="1400" b="1" dirty="0">
                <a:solidFill>
                  <a:srgbClr val="FFFFFF"/>
                </a:solidFill>
              </a:rPr>
              <a:t>3</a:t>
            </a:r>
            <a:endParaRPr lang="en-US" sz="1400" dirty="0"/>
          </a:p>
        </p:txBody>
      </p:sp>
      <p:sp>
        <p:nvSpPr>
          <p:cNvPr id="30" name="Text 27"/>
          <p:cNvSpPr txBox="1"/>
          <p:nvPr/>
        </p:nvSpPr>
        <p:spPr>
          <a:xfrm>
            <a:off x="576072" y="4178808"/>
            <a:ext cx="3813048" cy="237744"/>
          </a:xfrm>
          <a:prstGeom prst="rect">
            <a:avLst/>
          </a:prstGeom>
          <a:noFill/>
          <a:ln/>
        </p:spPr>
        <p:txBody>
          <a:bodyPr wrap="square" rtlCol="0" anchor="ctr"/>
          <a:lstStyle/>
          <a:p>
            <a:pPr indent="0" marL="0">
              <a:buNone/>
            </a:pPr>
            <a:r>
              <a:rPr lang="en-US" sz="900" b="1" dirty="0">
                <a:solidFill>
                  <a:srgbClr val="C8102E"/>
                </a:solidFill>
              </a:rPr>
              <a:t>Challenge: Mismatched coordinates</a:t>
            </a:r>
            <a:endParaRPr lang="en-US" sz="900" dirty="0"/>
          </a:p>
        </p:txBody>
      </p:sp>
      <p:sp>
        <p:nvSpPr>
          <p:cNvPr id="31" name="Text 28"/>
          <p:cNvSpPr txBox="1"/>
          <p:nvPr/>
        </p:nvSpPr>
        <p:spPr>
          <a:xfrm>
            <a:off x="576072" y="4407408"/>
            <a:ext cx="3813048" cy="457200"/>
          </a:xfrm>
          <a:prstGeom prst="rect">
            <a:avLst/>
          </a:prstGeom>
          <a:noFill/>
          <a:ln/>
        </p:spPr>
        <p:txBody>
          <a:bodyPr wrap="square" rtlCol="0" anchor="ctr"/>
          <a:lstStyle/>
          <a:p>
            <a:pPr indent="0" marL="0">
              <a:buNone/>
            </a:pPr>
            <a:r>
              <a:rPr lang="en-US" sz="850" dirty="0">
                <a:solidFill>
                  <a:srgbClr val="1A1A1A"/>
                </a:solidFill>
              </a:rPr>
              <a:t>Fix: Convert all 5 layers to one system</a:t>
            </a:r>
            <a:endParaRPr lang="en-US" sz="850" dirty="0"/>
          </a:p>
          <a:p>
            <a:pPr indent="0" marL="0">
              <a:buNone/>
            </a:pPr>
            <a:r>
              <a:rPr lang="en-US" sz="850" dirty="0">
                <a:solidFill>
                  <a:srgbClr val="1A1A1A"/>
                </a:solidFill>
              </a:rPr>
              <a:t>(UTM 15N, meters)</a:t>
            </a:r>
            <a:endParaRPr lang="en-US" sz="850" dirty="0"/>
          </a:p>
        </p:txBody>
      </p:sp>
      <p:sp>
        <p:nvSpPr>
          <p:cNvPr id="32" name="Shape 29"/>
          <p:cNvSpPr/>
          <p:nvPr/>
        </p:nvSpPr>
        <p:spPr>
          <a:xfrm>
            <a:off x="4645152" y="2450592"/>
            <a:ext cx="4315968" cy="777240"/>
          </a:xfrm>
          <a:prstGeom prst="rect">
            <a:avLst/>
          </a:prstGeom>
          <a:solidFill>
            <a:srgbClr val="F4F4F4"/>
          </a:solidFill>
          <a:ln w="12700">
            <a:solidFill>
              <a:srgbClr val="CCCCCC"/>
            </a:solidFill>
            <a:prstDash val="solid"/>
          </a:ln>
        </p:spPr>
      </p:sp>
      <p:sp>
        <p:nvSpPr>
          <p:cNvPr id="33" name="Shape 30"/>
          <p:cNvSpPr/>
          <p:nvPr/>
        </p:nvSpPr>
        <p:spPr>
          <a:xfrm>
            <a:off x="4645152" y="2450592"/>
            <a:ext cx="347472" cy="777240"/>
          </a:xfrm>
          <a:prstGeom prst="rect">
            <a:avLst/>
          </a:prstGeom>
          <a:solidFill>
            <a:srgbClr val="C8102E"/>
          </a:solidFill>
          <a:ln/>
        </p:spPr>
      </p:sp>
      <p:sp>
        <p:nvSpPr>
          <p:cNvPr id="34" name="Text 31"/>
          <p:cNvSpPr txBox="1"/>
          <p:nvPr/>
        </p:nvSpPr>
        <p:spPr>
          <a:xfrm>
            <a:off x="4681728" y="2670048"/>
            <a:ext cx="274320" cy="329184"/>
          </a:xfrm>
          <a:prstGeom prst="rect">
            <a:avLst/>
          </a:prstGeom>
          <a:noFill/>
          <a:ln/>
        </p:spPr>
        <p:txBody>
          <a:bodyPr wrap="square" rtlCol="0" anchor="ctr"/>
          <a:lstStyle/>
          <a:p>
            <a:pPr indent="0" marL="0">
              <a:buNone/>
            </a:pPr>
            <a:r>
              <a:rPr lang="en-US" sz="1400" b="1" dirty="0">
                <a:solidFill>
                  <a:srgbClr val="FFFFFF"/>
                </a:solidFill>
              </a:rPr>
              <a:t>4</a:t>
            </a:r>
            <a:endParaRPr lang="en-US" sz="1400" dirty="0"/>
          </a:p>
        </p:txBody>
      </p:sp>
      <p:sp>
        <p:nvSpPr>
          <p:cNvPr id="35" name="Text 32"/>
          <p:cNvSpPr txBox="1"/>
          <p:nvPr/>
        </p:nvSpPr>
        <p:spPr>
          <a:xfrm>
            <a:off x="5056632" y="2496312"/>
            <a:ext cx="3813048" cy="237744"/>
          </a:xfrm>
          <a:prstGeom prst="rect">
            <a:avLst/>
          </a:prstGeom>
          <a:noFill/>
          <a:ln/>
        </p:spPr>
        <p:txBody>
          <a:bodyPr wrap="square" rtlCol="0" anchor="ctr"/>
          <a:lstStyle/>
          <a:p>
            <a:pPr indent="0" marL="0">
              <a:buNone/>
            </a:pPr>
            <a:r>
              <a:rPr lang="en-US" sz="900" b="1" dirty="0">
                <a:solidFill>
                  <a:srgbClr val="C8102E"/>
                </a:solidFill>
              </a:rPr>
              <a:t>Challenge: Sparse rainfall data</a:t>
            </a:r>
            <a:endParaRPr lang="en-US" sz="900" dirty="0"/>
          </a:p>
        </p:txBody>
      </p:sp>
      <p:sp>
        <p:nvSpPr>
          <p:cNvPr id="36" name="Text 33"/>
          <p:cNvSpPr txBox="1"/>
          <p:nvPr/>
        </p:nvSpPr>
        <p:spPr>
          <a:xfrm>
            <a:off x="5056632" y="2724912"/>
            <a:ext cx="3813048" cy="457200"/>
          </a:xfrm>
          <a:prstGeom prst="rect">
            <a:avLst/>
          </a:prstGeom>
          <a:noFill/>
          <a:ln/>
        </p:spPr>
        <p:txBody>
          <a:bodyPr wrap="square" rtlCol="0" anchor="ctr"/>
          <a:lstStyle/>
          <a:p>
            <a:pPr indent="0" marL="0">
              <a:buNone/>
            </a:pPr>
            <a:r>
              <a:rPr lang="en-US" sz="850" dirty="0">
                <a:solidFill>
                  <a:srgbClr val="1A1A1A"/>
                </a:solidFill>
              </a:rPr>
              <a:t>Fix: Interpolate between gauges, attach</a:t>
            </a:r>
            <a:endParaRPr lang="en-US" sz="850" dirty="0"/>
          </a:p>
          <a:p>
            <a:pPr indent="0" marL="0">
              <a:buNone/>
            </a:pPr>
            <a:r>
              <a:rPr lang="en-US" sz="850" dirty="0">
                <a:solidFill>
                  <a:srgbClr val="1A1A1A"/>
                </a:solidFill>
              </a:rPr>
              <a:t>each storm date's rainfall amount</a:t>
            </a:r>
            <a:endParaRPr lang="en-US" sz="850" dirty="0"/>
          </a:p>
        </p:txBody>
      </p:sp>
      <p:sp>
        <p:nvSpPr>
          <p:cNvPr id="37" name="Shape 34"/>
          <p:cNvSpPr/>
          <p:nvPr/>
        </p:nvSpPr>
        <p:spPr>
          <a:xfrm>
            <a:off x="4645152" y="3291840"/>
            <a:ext cx="4315968" cy="777240"/>
          </a:xfrm>
          <a:prstGeom prst="rect">
            <a:avLst/>
          </a:prstGeom>
          <a:solidFill>
            <a:srgbClr val="F4F4F4"/>
          </a:solidFill>
          <a:ln w="12700">
            <a:solidFill>
              <a:srgbClr val="CCCCCC"/>
            </a:solidFill>
            <a:prstDash val="solid"/>
          </a:ln>
        </p:spPr>
      </p:sp>
      <p:sp>
        <p:nvSpPr>
          <p:cNvPr id="38" name="Shape 35"/>
          <p:cNvSpPr/>
          <p:nvPr/>
        </p:nvSpPr>
        <p:spPr>
          <a:xfrm>
            <a:off x="4645152" y="3291840"/>
            <a:ext cx="347472" cy="777240"/>
          </a:xfrm>
          <a:prstGeom prst="rect">
            <a:avLst/>
          </a:prstGeom>
          <a:solidFill>
            <a:srgbClr val="C8102E"/>
          </a:solidFill>
          <a:ln/>
        </p:spPr>
      </p:sp>
      <p:sp>
        <p:nvSpPr>
          <p:cNvPr id="39" name="Text 36"/>
          <p:cNvSpPr txBox="1"/>
          <p:nvPr/>
        </p:nvSpPr>
        <p:spPr>
          <a:xfrm>
            <a:off x="4681728" y="3511296"/>
            <a:ext cx="274320" cy="329184"/>
          </a:xfrm>
          <a:prstGeom prst="rect">
            <a:avLst/>
          </a:prstGeom>
          <a:noFill/>
          <a:ln/>
        </p:spPr>
        <p:txBody>
          <a:bodyPr wrap="square" rtlCol="0" anchor="ctr"/>
          <a:lstStyle/>
          <a:p>
            <a:pPr indent="0" marL="0">
              <a:buNone/>
            </a:pPr>
            <a:r>
              <a:rPr lang="en-US" sz="1400" b="1" dirty="0">
                <a:solidFill>
                  <a:srgbClr val="FFFFFF"/>
                </a:solidFill>
              </a:rPr>
              <a:t>5</a:t>
            </a:r>
            <a:endParaRPr lang="en-US" sz="1400" dirty="0"/>
          </a:p>
        </p:txBody>
      </p:sp>
      <p:sp>
        <p:nvSpPr>
          <p:cNvPr id="40" name="Text 37"/>
          <p:cNvSpPr txBox="1"/>
          <p:nvPr/>
        </p:nvSpPr>
        <p:spPr>
          <a:xfrm>
            <a:off x="5056632" y="3337560"/>
            <a:ext cx="3813048" cy="237744"/>
          </a:xfrm>
          <a:prstGeom prst="rect">
            <a:avLst/>
          </a:prstGeom>
          <a:noFill/>
          <a:ln/>
        </p:spPr>
        <p:txBody>
          <a:bodyPr wrap="square" rtlCol="0" anchor="ctr"/>
          <a:lstStyle/>
          <a:p>
            <a:pPr indent="0" marL="0">
              <a:buNone/>
            </a:pPr>
            <a:r>
              <a:rPr lang="en-US" sz="900" b="1" dirty="0">
                <a:solidFill>
                  <a:srgbClr val="C8102E"/>
                </a:solidFill>
              </a:rPr>
              <a:t>Challenge: Choosing non-flood spots</a:t>
            </a:r>
            <a:endParaRPr lang="en-US" sz="900" dirty="0"/>
          </a:p>
        </p:txBody>
      </p:sp>
      <p:sp>
        <p:nvSpPr>
          <p:cNvPr id="41" name="Text 38"/>
          <p:cNvSpPr txBox="1"/>
          <p:nvPr/>
        </p:nvSpPr>
        <p:spPr>
          <a:xfrm>
            <a:off x="5056632" y="3566160"/>
            <a:ext cx="3813048" cy="457200"/>
          </a:xfrm>
          <a:prstGeom prst="rect">
            <a:avLst/>
          </a:prstGeom>
          <a:noFill/>
          <a:ln/>
        </p:spPr>
        <p:txBody>
          <a:bodyPr wrap="square" rtlCol="0" anchor="ctr"/>
          <a:lstStyle/>
          <a:p>
            <a:pPr indent="0" marL="0">
              <a:buNone/>
            </a:pPr>
            <a:r>
              <a:rPr lang="en-US" sz="850" dirty="0">
                <a:solidFill>
                  <a:srgbClr val="1A1A1A"/>
                </a:solidFill>
              </a:rPr>
              <a:t>Fix: Sample evenly across city, away from</a:t>
            </a:r>
            <a:endParaRPr lang="en-US" sz="850" dirty="0"/>
          </a:p>
          <a:p>
            <a:pPr indent="0" marL="0">
              <a:buNone/>
            </a:pPr>
            <a:r>
              <a:rPr lang="en-US" sz="850" dirty="0">
                <a:solidFill>
                  <a:srgbClr val="1A1A1A"/>
                </a:solidFill>
              </a:rPr>
              <a:t>reports, and test by area (no leakage)</a:t>
            </a:r>
            <a:endParaRPr lang="en-US" sz="850" dirty="0"/>
          </a:p>
        </p:txBody>
      </p:sp>
      <p:sp>
        <p:nvSpPr>
          <p:cNvPr id="42" name="Shape 39"/>
          <p:cNvSpPr/>
          <p:nvPr/>
        </p:nvSpPr>
        <p:spPr>
          <a:xfrm>
            <a:off x="4645152" y="4133088"/>
            <a:ext cx="4315968" cy="749808"/>
          </a:xfrm>
          <a:prstGeom prst="rect">
            <a:avLst/>
          </a:prstGeom>
          <a:solidFill>
            <a:srgbClr val="C8102E"/>
          </a:solidFill>
          <a:ln/>
        </p:spPr>
      </p:sp>
      <p:sp>
        <p:nvSpPr>
          <p:cNvPr id="43" name="Text 40"/>
          <p:cNvSpPr txBox="1"/>
          <p:nvPr/>
        </p:nvSpPr>
        <p:spPr>
          <a:xfrm>
            <a:off x="4736592" y="4178808"/>
            <a:ext cx="4133088" cy="237744"/>
          </a:xfrm>
          <a:prstGeom prst="rect">
            <a:avLst/>
          </a:prstGeom>
          <a:noFill/>
          <a:ln/>
        </p:spPr>
        <p:txBody>
          <a:bodyPr wrap="square" rtlCol="0" anchor="ctr"/>
          <a:lstStyle/>
          <a:p>
            <a:pPr indent="0" marL="0">
              <a:buNone/>
            </a:pPr>
            <a:r>
              <a:rPr lang="en-US" sz="950" b="1" dirty="0">
                <a:solidFill>
                  <a:srgbClr val="FFFFFF"/>
                </a:solidFill>
              </a:rPr>
              <a:t>Spatio-Temporal:</a:t>
            </a:r>
            <a:endParaRPr lang="en-US" sz="950" dirty="0"/>
          </a:p>
        </p:txBody>
      </p:sp>
      <p:sp>
        <p:nvSpPr>
          <p:cNvPr id="44" name="Text 41"/>
          <p:cNvSpPr txBox="1"/>
          <p:nvPr/>
        </p:nvSpPr>
        <p:spPr>
          <a:xfrm>
            <a:off x="4736592" y="4407408"/>
            <a:ext cx="4133088" cy="384048"/>
          </a:xfrm>
          <a:prstGeom prst="rect">
            <a:avLst/>
          </a:prstGeom>
          <a:noFill/>
          <a:ln/>
        </p:spPr>
        <p:txBody>
          <a:bodyPr wrap="square" rtlCol="0" anchor="ctr"/>
          <a:lstStyle/>
          <a:p>
            <a:pPr indent="0" marL="0">
              <a:buNone/>
            </a:pPr>
            <a:r>
              <a:rPr lang="en-US" sz="850" dirty="0">
                <a:solidFill>
                  <a:srgbClr val="FFCCCC"/>
                </a:solidFill>
              </a:rPr>
              <a:t>Same location, different storm, different rainfall → different risk.</a:t>
            </a:r>
            <a:endParaRPr lang="en-US" sz="850" dirty="0"/>
          </a:p>
          <a:p>
            <a:pPr indent="0" marL="0">
              <a:buNone/>
            </a:pPr>
            <a:r>
              <a:rPr lang="en-US" sz="850" dirty="0">
                <a:solidFill>
                  <a:srgbClr val="FFCCCC"/>
                </a:solidFill>
              </a:rPr>
              <a:t>We test on Imelda 2019 — a storm the model never saw.</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C8102E"/>
          </a:solidFill>
          <a:ln/>
        </p:spPr>
      </p:sp>
      <p:sp>
        <p:nvSpPr>
          <p:cNvPr id="3" name="Text 1"/>
          <p:cNvSpPr txBox="1"/>
          <p:nvPr/>
        </p:nvSpPr>
        <p:spPr>
          <a:xfrm>
            <a:off x="164592" y="73152"/>
            <a:ext cx="6858000" cy="402336"/>
          </a:xfrm>
          <a:prstGeom prst="rect">
            <a:avLst/>
          </a:prstGeom>
          <a:noFill/>
          <a:ln/>
        </p:spPr>
        <p:txBody>
          <a:bodyPr wrap="square" rtlCol="0" anchor="ctr"/>
          <a:lstStyle/>
          <a:p>
            <a:pPr indent="0" marL="0">
              <a:buNone/>
            </a:pPr>
            <a:r>
              <a:rPr lang="en-US" sz="1600" b="1" dirty="0">
                <a:solidFill>
                  <a:srgbClr val="FFFFFF"/>
                </a:solidFill>
              </a:rPr>
              <a:t>Preliminary Results — What We Have Built</a:t>
            </a:r>
            <a:endParaRPr lang="en-US" sz="1600" dirty="0"/>
          </a:p>
        </p:txBody>
      </p:sp>
      <p:sp>
        <p:nvSpPr>
          <p:cNvPr id="4" name="Text 2"/>
          <p:cNvSpPr txBox="1"/>
          <p:nvPr/>
        </p:nvSpPr>
        <p:spPr>
          <a:xfrm>
            <a:off x="7132320" y="109728"/>
            <a:ext cx="1920240" cy="320040"/>
          </a:xfrm>
          <a:prstGeom prst="rect">
            <a:avLst/>
          </a:prstGeom>
          <a:noFill/>
          <a:ln/>
        </p:spPr>
        <p:txBody>
          <a:bodyPr wrap="square" rtlCol="0" anchor="ctr"/>
          <a:lstStyle/>
          <a:p>
            <a:pPr algn="r" indent="0" marL="0">
              <a:buNone/>
            </a:pPr>
            <a:r>
              <a:rPr lang="en-US" sz="800" dirty="0">
                <a:solidFill>
                  <a:srgbClr val="FFCCCC"/>
                </a:solidFill>
              </a:rPr>
              <a:t>4  Preliminary results</a:t>
            </a:r>
            <a:endParaRPr lang="en-US" sz="800" dirty="0"/>
          </a:p>
        </p:txBody>
      </p:sp>
      <p:sp>
        <p:nvSpPr>
          <p:cNvPr id="5" name="Text 3"/>
          <p:cNvSpPr txBox="1"/>
          <p:nvPr/>
        </p:nvSpPr>
        <p:spPr>
          <a:xfrm>
            <a:off x="137160" y="4992624"/>
            <a:ext cx="8869680" cy="146304"/>
          </a:xfrm>
          <a:prstGeom prst="rect">
            <a:avLst/>
          </a:prstGeom>
          <a:noFill/>
          <a:ln/>
        </p:spPr>
        <p:txBody>
          <a:bodyPr wrap="square" rtlCol="0" anchor="ctr"/>
          <a:lstStyle/>
          <a:p>
            <a:pPr algn="ctr" indent="0" marL="0">
              <a:buNone/>
            </a:pPr>
            <a:r>
              <a:rPr lang="en-US" sz="700" dirty="0">
                <a:solidFill>
                  <a:srgbClr val="CCCCCC"/>
                </a:solidFill>
              </a:rPr>
              <a:t>COSC 6368 Artificial Intelligence  •  Fall 2026  •  5 / 6</a:t>
            </a:r>
            <a:endParaRPr lang="en-US" sz="700" dirty="0"/>
          </a:p>
        </p:txBody>
      </p:sp>
      <p:sp>
        <p:nvSpPr>
          <p:cNvPr id="6" name="Text 4"/>
          <p:cNvSpPr txBox="1"/>
          <p:nvPr/>
        </p:nvSpPr>
        <p:spPr>
          <a:xfrm>
            <a:off x="164592" y="621792"/>
            <a:ext cx="3200400" cy="256032"/>
          </a:xfrm>
          <a:prstGeom prst="rect">
            <a:avLst/>
          </a:prstGeom>
          <a:noFill/>
          <a:ln/>
        </p:spPr>
        <p:txBody>
          <a:bodyPr wrap="square" rtlCol="0" anchor="ctr"/>
          <a:lstStyle/>
          <a:p>
            <a:pPr indent="0" marL="0">
              <a:buNone/>
            </a:pPr>
            <a:r>
              <a:rPr lang="en-US" sz="1050" b="1" dirty="0">
                <a:solidFill>
                  <a:srgbClr val="C8102E"/>
                </a:solidFill>
              </a:rPr>
              <a:t>Our 5 models</a:t>
            </a:r>
            <a:endParaRPr lang="en-US" sz="1050" dirty="0"/>
          </a:p>
        </p:txBody>
      </p:sp>
      <p:pic>
        <p:nvPicPr>
          <p:cNvPr id="7" name="Image 0" descr="preencoded.png">    </p:cNvPr>
          <p:cNvPicPr>
            <a:picLocks noChangeAspect="1"/>
          </p:cNvPicPr>
          <p:nvPr/>
        </p:nvPicPr>
        <p:blipFill>
          <a:blip r:embed="rId1"/>
          <a:stretch>
            <a:fillRect/>
          </a:stretch>
        </p:blipFill>
        <p:spPr>
          <a:xfrm>
            <a:off x="164592" y="896112"/>
            <a:ext cx="3200400" cy="2880360"/>
          </a:xfrm>
          <a:prstGeom prst="rect">
            <a:avLst/>
          </a:prstGeom>
        </p:spPr>
      </p:pic>
      <p:sp>
        <p:nvSpPr>
          <p:cNvPr id="8" name="Text 5"/>
          <p:cNvSpPr txBox="1"/>
          <p:nvPr/>
        </p:nvSpPr>
        <p:spPr>
          <a:xfrm>
            <a:off x="164592" y="3803904"/>
            <a:ext cx="3200400" cy="347472"/>
          </a:xfrm>
          <a:prstGeom prst="rect">
            <a:avLst/>
          </a:prstGeom>
          <a:noFill/>
          <a:ln/>
        </p:spPr>
        <p:txBody>
          <a:bodyPr wrap="square" rtlCol="0" anchor="ctr"/>
          <a:lstStyle/>
          <a:p>
            <a:pPr indent="0" marL="0">
              <a:buNone/>
            </a:pPr>
            <a:r>
              <a:rPr lang="en-US" sz="850" i="1" dirty="0">
                <a:solidFill>
                  <a:srgbClr val="555555"/>
                </a:solidFill>
              </a:rPr>
              <a:t>All 5 models compared on same split.</a:t>
            </a:r>
            <a:endParaRPr lang="en-US" sz="850" dirty="0"/>
          </a:p>
          <a:p>
            <a:pPr indent="0" marL="0">
              <a:buNone/>
            </a:pPr>
            <a:r>
              <a:rPr lang="en-US" sz="850" i="1" dirty="0">
                <a:solidFill>
                  <a:srgbClr val="555555"/>
                </a:solidFill>
              </a:rPr>
              <a:t>SHAP explains every prediction.</a:t>
            </a:r>
            <a:endParaRPr lang="en-US" sz="850" dirty="0"/>
          </a:p>
        </p:txBody>
      </p:sp>
      <p:sp>
        <p:nvSpPr>
          <p:cNvPr id="9" name="Shape 6"/>
          <p:cNvSpPr/>
          <p:nvPr/>
        </p:nvSpPr>
        <p:spPr>
          <a:xfrm>
            <a:off x="3520440" y="621792"/>
            <a:ext cx="2743200" cy="4315968"/>
          </a:xfrm>
          <a:prstGeom prst="rect">
            <a:avLst/>
          </a:prstGeom>
          <a:solidFill>
            <a:srgbClr val="F4F4F4"/>
          </a:solidFill>
          <a:ln w="12700">
            <a:solidFill>
              <a:srgbClr val="CCCCCC"/>
            </a:solidFill>
            <a:prstDash val="solid"/>
          </a:ln>
        </p:spPr>
      </p:sp>
      <p:sp>
        <p:nvSpPr>
          <p:cNvPr id="10" name="Text 7"/>
          <p:cNvSpPr txBox="1"/>
          <p:nvPr/>
        </p:nvSpPr>
        <p:spPr>
          <a:xfrm>
            <a:off x="3611880" y="667512"/>
            <a:ext cx="2560320" cy="256032"/>
          </a:xfrm>
          <a:prstGeom prst="rect">
            <a:avLst/>
          </a:prstGeom>
          <a:noFill/>
          <a:ln/>
        </p:spPr>
        <p:txBody>
          <a:bodyPr wrap="square" rtlCol="0" anchor="ctr"/>
          <a:lstStyle/>
          <a:p>
            <a:pPr indent="0" marL="0">
              <a:buNone/>
            </a:pPr>
            <a:r>
              <a:rPr lang="en-US" sz="1050" b="1" dirty="0">
                <a:solidFill>
                  <a:srgbClr val="C8102E"/>
                </a:solidFill>
              </a:rPr>
              <a:t>Done so far</a:t>
            </a:r>
            <a:endParaRPr lang="en-US" sz="1050" dirty="0"/>
          </a:p>
        </p:txBody>
      </p:sp>
      <p:sp>
        <p:nvSpPr>
          <p:cNvPr id="11" name="Text 8"/>
          <p:cNvSpPr txBox="1"/>
          <p:nvPr/>
        </p:nvSpPr>
        <p:spPr>
          <a:xfrm>
            <a:off x="3611880" y="1005840"/>
            <a:ext cx="256032" cy="347472"/>
          </a:xfrm>
          <a:prstGeom prst="rect">
            <a:avLst/>
          </a:prstGeom>
          <a:noFill/>
          <a:ln/>
        </p:spPr>
        <p:txBody>
          <a:bodyPr wrap="square" rtlCol="0" anchor="ctr"/>
          <a:lstStyle/>
          <a:p>
            <a:pPr indent="0" marL="0">
              <a:buNone/>
            </a:pPr>
            <a:r>
              <a:rPr lang="en-US" sz="1000" b="1" dirty="0">
                <a:solidFill>
                  <a:srgbClr val="1B6B2F"/>
                </a:solidFill>
              </a:rPr>
              <a:t>✓</a:t>
            </a:r>
            <a:endParaRPr lang="en-US" sz="1000" dirty="0"/>
          </a:p>
        </p:txBody>
      </p:sp>
      <p:sp>
        <p:nvSpPr>
          <p:cNvPr id="12" name="Text 9"/>
          <p:cNvSpPr txBox="1"/>
          <p:nvPr/>
        </p:nvSpPr>
        <p:spPr>
          <a:xfrm>
            <a:off x="3886200" y="1005840"/>
            <a:ext cx="2286000" cy="347472"/>
          </a:xfrm>
          <a:prstGeom prst="rect">
            <a:avLst/>
          </a:prstGeom>
          <a:noFill/>
          <a:ln/>
        </p:spPr>
        <p:txBody>
          <a:bodyPr wrap="square" rtlCol="0" anchor="ctr"/>
          <a:lstStyle/>
          <a:p>
            <a:pPr indent="0" marL="0">
              <a:buNone/>
            </a:pPr>
            <a:r>
              <a:rPr lang="en-US" sz="850" dirty="0">
                <a:solidFill>
                  <a:srgbClr val="1A1A1A"/>
                </a:solidFill>
              </a:rPr>
              <a:t>Topic approved by professor</a:t>
            </a:r>
            <a:endParaRPr lang="en-US" sz="850" dirty="0"/>
          </a:p>
        </p:txBody>
      </p:sp>
      <p:sp>
        <p:nvSpPr>
          <p:cNvPr id="13" name="Text 10"/>
          <p:cNvSpPr txBox="1"/>
          <p:nvPr/>
        </p:nvSpPr>
        <p:spPr>
          <a:xfrm>
            <a:off x="3611880" y="1389888"/>
            <a:ext cx="256032" cy="347472"/>
          </a:xfrm>
          <a:prstGeom prst="rect">
            <a:avLst/>
          </a:prstGeom>
          <a:noFill/>
          <a:ln/>
        </p:spPr>
        <p:txBody>
          <a:bodyPr wrap="square" rtlCol="0" anchor="ctr"/>
          <a:lstStyle/>
          <a:p>
            <a:pPr indent="0" marL="0">
              <a:buNone/>
            </a:pPr>
            <a:r>
              <a:rPr lang="en-US" sz="1000" b="1" dirty="0">
                <a:solidFill>
                  <a:srgbClr val="1B6B2F"/>
                </a:solidFill>
              </a:rPr>
              <a:t>✓</a:t>
            </a:r>
            <a:endParaRPr lang="en-US" sz="1000" dirty="0"/>
          </a:p>
        </p:txBody>
      </p:sp>
      <p:sp>
        <p:nvSpPr>
          <p:cNvPr id="14" name="Text 11"/>
          <p:cNvSpPr txBox="1"/>
          <p:nvPr/>
        </p:nvSpPr>
        <p:spPr>
          <a:xfrm>
            <a:off x="3886200" y="1389888"/>
            <a:ext cx="2286000" cy="347472"/>
          </a:xfrm>
          <a:prstGeom prst="rect">
            <a:avLst/>
          </a:prstGeom>
          <a:noFill/>
          <a:ln/>
        </p:spPr>
        <p:txBody>
          <a:bodyPr wrap="square" rtlCol="0" anchor="ctr"/>
          <a:lstStyle/>
          <a:p>
            <a:pPr indent="0" marL="0">
              <a:buNone/>
            </a:pPr>
            <a:r>
              <a:rPr lang="en-US" sz="850" dirty="0">
                <a:solidFill>
                  <a:srgbClr val="1A1A1A"/>
                </a:solidFill>
              </a:rPr>
              <a:t>Related work reviewed</a:t>
            </a:r>
            <a:endParaRPr lang="en-US" sz="850" dirty="0"/>
          </a:p>
          <a:p>
            <a:pPr indent="0" marL="0">
              <a:buNone/>
            </a:pPr>
            <a:r>
              <a:rPr lang="en-US" sz="850" dirty="0">
                <a:solidFill>
                  <a:srgbClr val="1A1A1A"/>
                </a:solidFill>
              </a:rPr>
              <a:t>(benchmark: ~80% accuracy)</a:t>
            </a:r>
            <a:endParaRPr lang="en-US" sz="850" dirty="0"/>
          </a:p>
        </p:txBody>
      </p:sp>
      <p:sp>
        <p:nvSpPr>
          <p:cNvPr id="15" name="Text 12"/>
          <p:cNvSpPr txBox="1"/>
          <p:nvPr/>
        </p:nvSpPr>
        <p:spPr>
          <a:xfrm>
            <a:off x="3611880" y="1773936"/>
            <a:ext cx="256032" cy="347472"/>
          </a:xfrm>
          <a:prstGeom prst="rect">
            <a:avLst/>
          </a:prstGeom>
          <a:noFill/>
          <a:ln/>
        </p:spPr>
        <p:txBody>
          <a:bodyPr wrap="square" rtlCol="0" anchor="ctr"/>
          <a:lstStyle/>
          <a:p>
            <a:pPr indent="0" marL="0">
              <a:buNone/>
            </a:pPr>
            <a:r>
              <a:rPr lang="en-US" sz="1000" b="1" dirty="0">
                <a:solidFill>
                  <a:srgbClr val="1B6B2F"/>
                </a:solidFill>
              </a:rPr>
              <a:t>✓</a:t>
            </a:r>
            <a:endParaRPr lang="en-US" sz="1000" dirty="0"/>
          </a:p>
        </p:txBody>
      </p:sp>
      <p:sp>
        <p:nvSpPr>
          <p:cNvPr id="16" name="Text 13"/>
          <p:cNvSpPr txBox="1"/>
          <p:nvPr/>
        </p:nvSpPr>
        <p:spPr>
          <a:xfrm>
            <a:off x="3886200" y="1773936"/>
            <a:ext cx="2286000" cy="347472"/>
          </a:xfrm>
          <a:prstGeom prst="rect">
            <a:avLst/>
          </a:prstGeom>
          <a:noFill/>
          <a:ln/>
        </p:spPr>
        <p:txBody>
          <a:bodyPr wrap="square" rtlCol="0" anchor="ctr"/>
          <a:lstStyle/>
          <a:p>
            <a:pPr indent="0" marL="0">
              <a:buNone/>
            </a:pPr>
            <a:r>
              <a:rPr lang="en-US" sz="850" dirty="0">
                <a:solidFill>
                  <a:srgbClr val="1A1A1A"/>
                </a:solidFill>
              </a:rPr>
              <a:t>All 5 sources confirmed</a:t>
            </a:r>
            <a:endParaRPr lang="en-US" sz="850" dirty="0"/>
          </a:p>
          <a:p>
            <a:pPr indent="0" marL="0">
              <a:buNone/>
            </a:pPr>
            <a:r>
              <a:rPr lang="en-US" sz="850" dirty="0">
                <a:solidFill>
                  <a:srgbClr val="1A1A1A"/>
                </a:solidFill>
              </a:rPr>
              <a:t>downloadable</a:t>
            </a:r>
            <a:endParaRPr lang="en-US" sz="850" dirty="0"/>
          </a:p>
        </p:txBody>
      </p:sp>
      <p:sp>
        <p:nvSpPr>
          <p:cNvPr id="17" name="Text 14"/>
          <p:cNvSpPr txBox="1"/>
          <p:nvPr/>
        </p:nvSpPr>
        <p:spPr>
          <a:xfrm>
            <a:off x="3611880" y="2157984"/>
            <a:ext cx="256032" cy="347472"/>
          </a:xfrm>
          <a:prstGeom prst="rect">
            <a:avLst/>
          </a:prstGeom>
          <a:noFill/>
          <a:ln/>
        </p:spPr>
        <p:txBody>
          <a:bodyPr wrap="square" rtlCol="0" anchor="ctr"/>
          <a:lstStyle/>
          <a:p>
            <a:pPr indent="0" marL="0">
              <a:buNone/>
            </a:pPr>
            <a:r>
              <a:rPr lang="en-US" sz="1000" b="1" dirty="0">
                <a:solidFill>
                  <a:srgbClr val="1B6B2F"/>
                </a:solidFill>
              </a:rPr>
              <a:t>✓</a:t>
            </a:r>
            <a:endParaRPr lang="en-US" sz="1000" dirty="0"/>
          </a:p>
        </p:txBody>
      </p:sp>
      <p:sp>
        <p:nvSpPr>
          <p:cNvPr id="18" name="Text 15"/>
          <p:cNvSpPr txBox="1"/>
          <p:nvPr/>
        </p:nvSpPr>
        <p:spPr>
          <a:xfrm>
            <a:off x="3886200" y="2157984"/>
            <a:ext cx="2286000" cy="347472"/>
          </a:xfrm>
          <a:prstGeom prst="rect">
            <a:avLst/>
          </a:prstGeom>
          <a:noFill/>
          <a:ln/>
        </p:spPr>
        <p:txBody>
          <a:bodyPr wrap="square" rtlCol="0" anchor="ctr"/>
          <a:lstStyle/>
          <a:p>
            <a:pPr indent="0" marL="0">
              <a:buNone/>
            </a:pPr>
            <a:r>
              <a:rPr lang="en-US" sz="850" dirty="0">
                <a:solidFill>
                  <a:srgbClr val="1A1A1A"/>
                </a:solidFill>
              </a:rPr>
              <a:t>Real 311 data downloaded</a:t>
            </a:r>
            <a:endParaRPr lang="en-US" sz="850" dirty="0"/>
          </a:p>
          <a:p>
            <a:pPr indent="0" marL="0">
              <a:buNone/>
            </a:pPr>
            <a:r>
              <a:rPr lang="en-US" sz="850" dirty="0">
                <a:solidFill>
                  <a:srgbClr val="1A1A1A"/>
                </a:solidFill>
              </a:rPr>
              <a:t>(2015, 2016, 2017, 2019)</a:t>
            </a:r>
            <a:endParaRPr lang="en-US" sz="850" dirty="0"/>
          </a:p>
        </p:txBody>
      </p:sp>
      <p:sp>
        <p:nvSpPr>
          <p:cNvPr id="19" name="Text 16"/>
          <p:cNvSpPr txBox="1"/>
          <p:nvPr/>
        </p:nvSpPr>
        <p:spPr>
          <a:xfrm>
            <a:off x="3611880" y="2542032"/>
            <a:ext cx="256032" cy="347472"/>
          </a:xfrm>
          <a:prstGeom prst="rect">
            <a:avLst/>
          </a:prstGeom>
          <a:noFill/>
          <a:ln/>
        </p:spPr>
        <p:txBody>
          <a:bodyPr wrap="square" rtlCol="0" anchor="ctr"/>
          <a:lstStyle/>
          <a:p>
            <a:pPr indent="0" marL="0">
              <a:buNone/>
            </a:pPr>
            <a:r>
              <a:rPr lang="en-US" sz="1000" b="1" dirty="0">
                <a:solidFill>
                  <a:srgbClr val="1B6B2F"/>
                </a:solidFill>
              </a:rPr>
              <a:t>✓</a:t>
            </a:r>
            <a:endParaRPr lang="en-US" sz="1000" dirty="0"/>
          </a:p>
        </p:txBody>
      </p:sp>
      <p:sp>
        <p:nvSpPr>
          <p:cNvPr id="20" name="Text 17"/>
          <p:cNvSpPr txBox="1"/>
          <p:nvPr/>
        </p:nvSpPr>
        <p:spPr>
          <a:xfrm>
            <a:off x="3886200" y="2542032"/>
            <a:ext cx="2286000" cy="347472"/>
          </a:xfrm>
          <a:prstGeom prst="rect">
            <a:avLst/>
          </a:prstGeom>
          <a:noFill/>
          <a:ln/>
        </p:spPr>
        <p:txBody>
          <a:bodyPr wrap="square" rtlCol="0" anchor="ctr"/>
          <a:lstStyle/>
          <a:p>
            <a:pPr indent="0" marL="0">
              <a:buNone/>
            </a:pPr>
            <a:r>
              <a:rPr lang="en-US" sz="850" dirty="0">
                <a:solidFill>
                  <a:srgbClr val="1A1A1A"/>
                </a:solidFill>
              </a:rPr>
              <a:t>Training set built:</a:t>
            </a:r>
            <a:endParaRPr lang="en-US" sz="850" dirty="0"/>
          </a:p>
          <a:p>
            <a:pPr indent="0" marL="0">
              <a:buNone/>
            </a:pPr>
            <a:r>
              <a:rPr lang="en-US" sz="850" dirty="0">
                <a:solidFill>
                  <a:srgbClr val="1A1A1A"/>
                </a:solidFill>
              </a:rPr>
              <a:t>85,738 rows (2015–2017)</a:t>
            </a:r>
            <a:endParaRPr lang="en-US" sz="850" dirty="0"/>
          </a:p>
        </p:txBody>
      </p:sp>
      <p:sp>
        <p:nvSpPr>
          <p:cNvPr id="21" name="Text 18"/>
          <p:cNvSpPr txBox="1"/>
          <p:nvPr/>
        </p:nvSpPr>
        <p:spPr>
          <a:xfrm>
            <a:off x="3611880" y="2926080"/>
            <a:ext cx="256032" cy="347472"/>
          </a:xfrm>
          <a:prstGeom prst="rect">
            <a:avLst/>
          </a:prstGeom>
          <a:noFill/>
          <a:ln/>
        </p:spPr>
        <p:txBody>
          <a:bodyPr wrap="square" rtlCol="0" anchor="ctr"/>
          <a:lstStyle/>
          <a:p>
            <a:pPr indent="0" marL="0">
              <a:buNone/>
            </a:pPr>
            <a:r>
              <a:rPr lang="en-US" sz="1000" b="1" dirty="0">
                <a:solidFill>
                  <a:srgbClr val="1B6B2F"/>
                </a:solidFill>
              </a:rPr>
              <a:t>✓</a:t>
            </a:r>
            <a:endParaRPr lang="en-US" sz="1000" dirty="0"/>
          </a:p>
        </p:txBody>
      </p:sp>
      <p:sp>
        <p:nvSpPr>
          <p:cNvPr id="22" name="Text 19"/>
          <p:cNvSpPr txBox="1"/>
          <p:nvPr/>
        </p:nvSpPr>
        <p:spPr>
          <a:xfrm>
            <a:off x="3886200" y="2926080"/>
            <a:ext cx="2286000" cy="347472"/>
          </a:xfrm>
          <a:prstGeom prst="rect">
            <a:avLst/>
          </a:prstGeom>
          <a:noFill/>
          <a:ln/>
        </p:spPr>
        <p:txBody>
          <a:bodyPr wrap="square" rtlCol="0" anchor="ctr"/>
          <a:lstStyle/>
          <a:p>
            <a:pPr indent="0" marL="0">
              <a:buNone/>
            </a:pPr>
            <a:r>
              <a:rPr lang="en-US" sz="850" dirty="0">
                <a:solidFill>
                  <a:srgbClr val="1A1A1A"/>
                </a:solidFill>
              </a:rPr>
              <a:t>Test set built:</a:t>
            </a:r>
            <a:endParaRPr lang="en-US" sz="850" dirty="0"/>
          </a:p>
          <a:p>
            <a:pPr indent="0" marL="0">
              <a:buNone/>
            </a:pPr>
            <a:r>
              <a:rPr lang="en-US" sz="850" dirty="0">
                <a:solidFill>
                  <a:srgbClr val="1A1A1A"/>
                </a:solidFill>
              </a:rPr>
              <a:t>24,852 rows (Imelda 2019)</a:t>
            </a:r>
            <a:endParaRPr lang="en-US" sz="850" dirty="0"/>
          </a:p>
        </p:txBody>
      </p:sp>
      <p:sp>
        <p:nvSpPr>
          <p:cNvPr id="23" name="Text 20"/>
          <p:cNvSpPr txBox="1"/>
          <p:nvPr/>
        </p:nvSpPr>
        <p:spPr>
          <a:xfrm>
            <a:off x="3611880" y="3310128"/>
            <a:ext cx="256032" cy="347472"/>
          </a:xfrm>
          <a:prstGeom prst="rect">
            <a:avLst/>
          </a:prstGeom>
          <a:noFill/>
          <a:ln/>
        </p:spPr>
        <p:txBody>
          <a:bodyPr wrap="square" rtlCol="0" anchor="ctr"/>
          <a:lstStyle/>
          <a:p>
            <a:pPr indent="0" marL="0">
              <a:buNone/>
            </a:pPr>
            <a:r>
              <a:rPr lang="en-US" sz="1000" b="1" dirty="0">
                <a:solidFill>
                  <a:srgbClr val="D4700A"/>
                </a:solidFill>
              </a:rPr>
              <a:t>→</a:t>
            </a:r>
            <a:endParaRPr lang="en-US" sz="1000" dirty="0"/>
          </a:p>
        </p:txBody>
      </p:sp>
      <p:sp>
        <p:nvSpPr>
          <p:cNvPr id="24" name="Text 21"/>
          <p:cNvSpPr txBox="1"/>
          <p:nvPr/>
        </p:nvSpPr>
        <p:spPr>
          <a:xfrm>
            <a:off x="3886200" y="3310128"/>
            <a:ext cx="2286000" cy="347472"/>
          </a:xfrm>
          <a:prstGeom prst="rect">
            <a:avLst/>
          </a:prstGeom>
          <a:noFill/>
          <a:ln/>
        </p:spPr>
        <p:txBody>
          <a:bodyPr wrap="square" rtlCol="0" anchor="ctr"/>
          <a:lstStyle/>
          <a:p>
            <a:pPr indent="0" marL="0">
              <a:buNone/>
            </a:pPr>
            <a:r>
              <a:rPr lang="en-US" sz="850" dirty="0">
                <a:solidFill>
                  <a:srgbClr val="555555"/>
                </a:solidFill>
              </a:rPr>
              <a:t>Fill 6 feature columns</a:t>
            </a:r>
            <a:endParaRPr lang="en-US" sz="850" dirty="0"/>
          </a:p>
          <a:p>
            <a:pPr indent="0" marL="0">
              <a:buNone/>
            </a:pPr>
            <a:r>
              <a:rPr lang="en-US" sz="850" dirty="0">
                <a:solidFill>
                  <a:srgbClr val="555555"/>
                </a:solidFill>
              </a:rPr>
              <a:t>(elevation, rain, paved…)</a:t>
            </a:r>
            <a:endParaRPr lang="en-US" sz="850" dirty="0"/>
          </a:p>
        </p:txBody>
      </p:sp>
      <p:sp>
        <p:nvSpPr>
          <p:cNvPr id="25" name="Text 22"/>
          <p:cNvSpPr txBox="1"/>
          <p:nvPr/>
        </p:nvSpPr>
        <p:spPr>
          <a:xfrm>
            <a:off x="3611880" y="3694176"/>
            <a:ext cx="256032" cy="347472"/>
          </a:xfrm>
          <a:prstGeom prst="rect">
            <a:avLst/>
          </a:prstGeom>
          <a:noFill/>
          <a:ln/>
        </p:spPr>
        <p:txBody>
          <a:bodyPr wrap="square" rtlCol="0" anchor="ctr"/>
          <a:lstStyle/>
          <a:p>
            <a:pPr indent="0" marL="0">
              <a:buNone/>
            </a:pPr>
            <a:r>
              <a:rPr lang="en-US" sz="1000" b="1" dirty="0">
                <a:solidFill>
                  <a:srgbClr val="D4700A"/>
                </a:solidFill>
              </a:rPr>
              <a:t>→</a:t>
            </a:r>
            <a:endParaRPr lang="en-US" sz="1000" dirty="0"/>
          </a:p>
        </p:txBody>
      </p:sp>
      <p:sp>
        <p:nvSpPr>
          <p:cNvPr id="26" name="Text 23"/>
          <p:cNvSpPr txBox="1"/>
          <p:nvPr/>
        </p:nvSpPr>
        <p:spPr>
          <a:xfrm>
            <a:off x="3886200" y="3694176"/>
            <a:ext cx="2286000" cy="347472"/>
          </a:xfrm>
          <a:prstGeom prst="rect">
            <a:avLst/>
          </a:prstGeom>
          <a:noFill/>
          <a:ln/>
        </p:spPr>
        <p:txBody>
          <a:bodyPr wrap="square" rtlCol="0" anchor="ctr"/>
          <a:lstStyle/>
          <a:p>
            <a:pPr indent="0" marL="0">
              <a:buNone/>
            </a:pPr>
            <a:r>
              <a:rPr lang="en-US" sz="850" dirty="0">
                <a:solidFill>
                  <a:srgbClr val="555555"/>
                </a:solidFill>
              </a:rPr>
              <a:t>Train 5 models + SHAP</a:t>
            </a:r>
            <a:endParaRPr lang="en-US" sz="850" dirty="0"/>
          </a:p>
        </p:txBody>
      </p:sp>
      <p:sp>
        <p:nvSpPr>
          <p:cNvPr id="27" name="Shape 24"/>
          <p:cNvSpPr/>
          <p:nvPr/>
        </p:nvSpPr>
        <p:spPr>
          <a:xfrm>
            <a:off x="6400800" y="621792"/>
            <a:ext cx="2578608" cy="4315968"/>
          </a:xfrm>
          <a:prstGeom prst="rect">
            <a:avLst/>
          </a:prstGeom>
          <a:solidFill>
            <a:srgbClr val="F4F4F4"/>
          </a:solidFill>
          <a:ln w="12700">
            <a:solidFill>
              <a:srgbClr val="CCCCCC"/>
            </a:solidFill>
            <a:prstDash val="solid"/>
          </a:ln>
        </p:spPr>
      </p:sp>
      <p:sp>
        <p:nvSpPr>
          <p:cNvPr id="28" name="Text 25"/>
          <p:cNvSpPr txBox="1"/>
          <p:nvPr/>
        </p:nvSpPr>
        <p:spPr>
          <a:xfrm>
            <a:off x="6492240" y="667512"/>
            <a:ext cx="2395728" cy="256032"/>
          </a:xfrm>
          <a:prstGeom prst="rect">
            <a:avLst/>
          </a:prstGeom>
          <a:noFill/>
          <a:ln/>
        </p:spPr>
        <p:txBody>
          <a:bodyPr wrap="square" rtlCol="0" anchor="ctr"/>
          <a:lstStyle/>
          <a:p>
            <a:pPr indent="0" marL="0">
              <a:buNone/>
            </a:pPr>
            <a:r>
              <a:rPr lang="en-US" sz="1050" b="1" dirty="0">
                <a:solidFill>
                  <a:srgbClr val="C8102E"/>
                </a:solidFill>
              </a:rPr>
              <a:t>Our real dataset</a:t>
            </a:r>
            <a:endParaRPr lang="en-US" sz="1050" dirty="0"/>
          </a:p>
        </p:txBody>
      </p:sp>
      <p:sp>
        <p:nvSpPr>
          <p:cNvPr id="29" name="Shape 26"/>
          <p:cNvSpPr/>
          <p:nvPr/>
        </p:nvSpPr>
        <p:spPr>
          <a:xfrm>
            <a:off x="6492240" y="1005840"/>
            <a:ext cx="2395728" cy="877824"/>
          </a:xfrm>
          <a:prstGeom prst="rect">
            <a:avLst/>
          </a:prstGeom>
          <a:solidFill>
            <a:srgbClr val="FFFFFF"/>
          </a:solidFill>
          <a:ln w="12700">
            <a:solidFill>
              <a:srgbClr val="CCCCCC"/>
            </a:solidFill>
            <a:prstDash val="solid"/>
          </a:ln>
        </p:spPr>
      </p:sp>
      <p:sp>
        <p:nvSpPr>
          <p:cNvPr id="30" name="Text 27"/>
          <p:cNvSpPr txBox="1"/>
          <p:nvPr/>
        </p:nvSpPr>
        <p:spPr>
          <a:xfrm>
            <a:off x="6492240" y="1060704"/>
            <a:ext cx="2395728" cy="438912"/>
          </a:xfrm>
          <a:prstGeom prst="rect">
            <a:avLst/>
          </a:prstGeom>
          <a:noFill/>
          <a:ln/>
        </p:spPr>
        <p:txBody>
          <a:bodyPr wrap="square" rtlCol="0" anchor="ctr"/>
          <a:lstStyle/>
          <a:p>
            <a:pPr algn="ctr" indent="0" marL="0">
              <a:buNone/>
            </a:pPr>
            <a:r>
              <a:rPr lang="en-US" sz="2200" b="1" dirty="0">
                <a:solidFill>
                  <a:srgbClr val="C8102E"/>
                </a:solidFill>
              </a:rPr>
              <a:t>85,738</a:t>
            </a:r>
            <a:endParaRPr lang="en-US" sz="2200" dirty="0"/>
          </a:p>
        </p:txBody>
      </p:sp>
      <p:sp>
        <p:nvSpPr>
          <p:cNvPr id="31" name="Text 28"/>
          <p:cNvSpPr txBox="1"/>
          <p:nvPr/>
        </p:nvSpPr>
        <p:spPr>
          <a:xfrm>
            <a:off x="6492240" y="1481328"/>
            <a:ext cx="2395728" cy="347472"/>
          </a:xfrm>
          <a:prstGeom prst="rect">
            <a:avLst/>
          </a:prstGeom>
          <a:noFill/>
          <a:ln/>
        </p:spPr>
        <p:txBody>
          <a:bodyPr wrap="square" rtlCol="0" anchor="ctr"/>
          <a:lstStyle/>
          <a:p>
            <a:pPr algn="ctr" indent="0" marL="0">
              <a:buNone/>
            </a:pPr>
            <a:r>
              <a:rPr lang="en-US" sz="850" dirty="0">
                <a:solidFill>
                  <a:srgbClr val="1A1A1A"/>
                </a:solidFill>
              </a:rPr>
              <a:t>Training rows</a:t>
            </a:r>
            <a:endParaRPr lang="en-US" sz="850" dirty="0"/>
          </a:p>
          <a:p>
            <a:pPr algn="ctr" indent="0" marL="0">
              <a:buNone/>
            </a:pPr>
            <a:r>
              <a:rPr lang="en-US" sz="850" dirty="0">
                <a:solidFill>
                  <a:srgbClr val="1A1A1A"/>
                </a:solidFill>
              </a:rPr>
              <a:t>(2015–2017)</a:t>
            </a:r>
            <a:endParaRPr lang="en-US" sz="850" dirty="0"/>
          </a:p>
        </p:txBody>
      </p:sp>
      <p:sp>
        <p:nvSpPr>
          <p:cNvPr id="32" name="Shape 29"/>
          <p:cNvSpPr/>
          <p:nvPr/>
        </p:nvSpPr>
        <p:spPr>
          <a:xfrm>
            <a:off x="6492240" y="1965960"/>
            <a:ext cx="2395728" cy="877824"/>
          </a:xfrm>
          <a:prstGeom prst="rect">
            <a:avLst/>
          </a:prstGeom>
          <a:solidFill>
            <a:srgbClr val="FFF0F0"/>
          </a:solidFill>
          <a:ln w="12700">
            <a:solidFill>
              <a:srgbClr val="CCCCCC"/>
            </a:solidFill>
            <a:prstDash val="solid"/>
          </a:ln>
        </p:spPr>
      </p:sp>
      <p:sp>
        <p:nvSpPr>
          <p:cNvPr id="33" name="Text 30"/>
          <p:cNvSpPr txBox="1"/>
          <p:nvPr/>
        </p:nvSpPr>
        <p:spPr>
          <a:xfrm>
            <a:off x="6492240" y="2020824"/>
            <a:ext cx="2395728" cy="438912"/>
          </a:xfrm>
          <a:prstGeom prst="rect">
            <a:avLst/>
          </a:prstGeom>
          <a:noFill/>
          <a:ln/>
        </p:spPr>
        <p:txBody>
          <a:bodyPr wrap="square" rtlCol="0" anchor="ctr"/>
          <a:lstStyle/>
          <a:p>
            <a:pPr algn="ctr" indent="0" marL="0">
              <a:buNone/>
            </a:pPr>
            <a:r>
              <a:rPr lang="en-US" sz="2200" b="1" dirty="0">
                <a:solidFill>
                  <a:srgbClr val="C8102E"/>
                </a:solidFill>
              </a:rPr>
              <a:t>24,852</a:t>
            </a:r>
            <a:endParaRPr lang="en-US" sz="2200" dirty="0"/>
          </a:p>
        </p:txBody>
      </p:sp>
      <p:sp>
        <p:nvSpPr>
          <p:cNvPr id="34" name="Text 31"/>
          <p:cNvSpPr txBox="1"/>
          <p:nvPr/>
        </p:nvSpPr>
        <p:spPr>
          <a:xfrm>
            <a:off x="6492240" y="2441448"/>
            <a:ext cx="2395728" cy="347472"/>
          </a:xfrm>
          <a:prstGeom prst="rect">
            <a:avLst/>
          </a:prstGeom>
          <a:noFill/>
          <a:ln/>
        </p:spPr>
        <p:txBody>
          <a:bodyPr wrap="square" rtlCol="0" anchor="ctr"/>
          <a:lstStyle/>
          <a:p>
            <a:pPr algn="ctr" indent="0" marL="0">
              <a:buNone/>
            </a:pPr>
            <a:r>
              <a:rPr lang="en-US" sz="850" dirty="0">
                <a:solidFill>
                  <a:srgbClr val="1A1A1A"/>
                </a:solidFill>
              </a:rPr>
              <a:t>Test rows</a:t>
            </a:r>
            <a:endParaRPr lang="en-US" sz="850" dirty="0"/>
          </a:p>
          <a:p>
            <a:pPr algn="ctr" indent="0" marL="0">
              <a:buNone/>
            </a:pPr>
            <a:r>
              <a:rPr lang="en-US" sz="850" dirty="0">
                <a:solidFill>
                  <a:srgbClr val="1A1A1A"/>
                </a:solidFill>
              </a:rPr>
              <a:t>(Imelda 2019)</a:t>
            </a:r>
            <a:endParaRPr lang="en-US" sz="850" dirty="0"/>
          </a:p>
        </p:txBody>
      </p:sp>
      <p:sp>
        <p:nvSpPr>
          <p:cNvPr id="35" name="Shape 32"/>
          <p:cNvSpPr/>
          <p:nvPr/>
        </p:nvSpPr>
        <p:spPr>
          <a:xfrm>
            <a:off x="6492240" y="2926080"/>
            <a:ext cx="2395728" cy="877824"/>
          </a:xfrm>
          <a:prstGeom prst="rect">
            <a:avLst/>
          </a:prstGeom>
          <a:solidFill>
            <a:srgbClr val="FFFFFF"/>
          </a:solidFill>
          <a:ln w="12700">
            <a:solidFill>
              <a:srgbClr val="CCCCCC"/>
            </a:solidFill>
            <a:prstDash val="solid"/>
          </a:ln>
        </p:spPr>
      </p:sp>
      <p:sp>
        <p:nvSpPr>
          <p:cNvPr id="36" name="Text 33"/>
          <p:cNvSpPr txBox="1"/>
          <p:nvPr/>
        </p:nvSpPr>
        <p:spPr>
          <a:xfrm>
            <a:off x="6492240" y="2980944"/>
            <a:ext cx="2395728" cy="438912"/>
          </a:xfrm>
          <a:prstGeom prst="rect">
            <a:avLst/>
          </a:prstGeom>
          <a:noFill/>
          <a:ln/>
        </p:spPr>
        <p:txBody>
          <a:bodyPr wrap="square" rtlCol="0" anchor="ctr"/>
          <a:lstStyle/>
          <a:p>
            <a:pPr algn="ctr" indent="0" marL="0">
              <a:buNone/>
            </a:pPr>
            <a:r>
              <a:rPr lang="en-US" sz="2200" b="1" dirty="0">
                <a:solidFill>
                  <a:srgbClr val="C8102E"/>
                </a:solidFill>
              </a:rPr>
              <a:t>50 / 50</a:t>
            </a:r>
            <a:endParaRPr lang="en-US" sz="2200" dirty="0"/>
          </a:p>
        </p:txBody>
      </p:sp>
      <p:sp>
        <p:nvSpPr>
          <p:cNvPr id="37" name="Text 34"/>
          <p:cNvSpPr txBox="1"/>
          <p:nvPr/>
        </p:nvSpPr>
        <p:spPr>
          <a:xfrm>
            <a:off x="6492240" y="3401568"/>
            <a:ext cx="2395728" cy="347472"/>
          </a:xfrm>
          <a:prstGeom prst="rect">
            <a:avLst/>
          </a:prstGeom>
          <a:noFill/>
          <a:ln/>
        </p:spPr>
        <p:txBody>
          <a:bodyPr wrap="square" rtlCol="0" anchor="ctr"/>
          <a:lstStyle/>
          <a:p>
            <a:pPr algn="ctr" indent="0" marL="0">
              <a:buNone/>
            </a:pPr>
            <a:r>
              <a:rPr lang="en-US" sz="850" dirty="0">
                <a:solidFill>
                  <a:srgbClr val="1A1A1A"/>
                </a:solidFill>
              </a:rPr>
              <a:t>Flood YES vs</a:t>
            </a:r>
            <a:endParaRPr lang="en-US" sz="850" dirty="0"/>
          </a:p>
          <a:p>
            <a:pPr algn="ctr" indent="0" marL="0">
              <a:buNone/>
            </a:pPr>
            <a:r>
              <a:rPr lang="en-US" sz="850" dirty="0">
                <a:solidFill>
                  <a:srgbClr val="1A1A1A"/>
                </a:solidFill>
              </a:rPr>
              <a:t>NO balance</a:t>
            </a:r>
            <a:endParaRPr lang="en-US" sz="850" dirty="0"/>
          </a:p>
        </p:txBody>
      </p:sp>
      <p:sp>
        <p:nvSpPr>
          <p:cNvPr id="38" name="Shape 35"/>
          <p:cNvSpPr/>
          <p:nvPr/>
        </p:nvSpPr>
        <p:spPr>
          <a:xfrm>
            <a:off x="6492240" y="3886200"/>
            <a:ext cx="2395728" cy="877824"/>
          </a:xfrm>
          <a:prstGeom prst="rect">
            <a:avLst/>
          </a:prstGeom>
          <a:solidFill>
            <a:srgbClr val="FFF0F0"/>
          </a:solidFill>
          <a:ln w="12700">
            <a:solidFill>
              <a:srgbClr val="CCCCCC"/>
            </a:solidFill>
            <a:prstDash val="solid"/>
          </a:ln>
        </p:spPr>
      </p:sp>
      <p:sp>
        <p:nvSpPr>
          <p:cNvPr id="39" name="Text 36"/>
          <p:cNvSpPr txBox="1"/>
          <p:nvPr/>
        </p:nvSpPr>
        <p:spPr>
          <a:xfrm>
            <a:off x="6492240" y="3941064"/>
            <a:ext cx="2395728" cy="438912"/>
          </a:xfrm>
          <a:prstGeom prst="rect">
            <a:avLst/>
          </a:prstGeom>
          <a:noFill/>
          <a:ln/>
        </p:spPr>
        <p:txBody>
          <a:bodyPr wrap="square" rtlCol="0" anchor="ctr"/>
          <a:lstStyle/>
          <a:p>
            <a:pPr algn="ctr" indent="0" marL="0">
              <a:buNone/>
            </a:pPr>
            <a:r>
              <a:rPr lang="en-US" sz="2200" b="1" dirty="0">
                <a:solidFill>
                  <a:srgbClr val="C8102E"/>
                </a:solidFill>
              </a:rPr>
              <a:t>7 / 13</a:t>
            </a:r>
            <a:endParaRPr lang="en-US" sz="2200" dirty="0"/>
          </a:p>
        </p:txBody>
      </p:sp>
      <p:sp>
        <p:nvSpPr>
          <p:cNvPr id="40" name="Text 37"/>
          <p:cNvSpPr txBox="1"/>
          <p:nvPr/>
        </p:nvSpPr>
        <p:spPr>
          <a:xfrm>
            <a:off x="6492240" y="4361688"/>
            <a:ext cx="2395728" cy="347472"/>
          </a:xfrm>
          <a:prstGeom prst="rect">
            <a:avLst/>
          </a:prstGeom>
          <a:noFill/>
          <a:ln/>
        </p:spPr>
        <p:txBody>
          <a:bodyPr wrap="square" rtlCol="0" anchor="ctr"/>
          <a:lstStyle/>
          <a:p>
            <a:pPr algn="ctr" indent="0" marL="0">
              <a:buNone/>
            </a:pPr>
            <a:r>
              <a:rPr lang="en-US" sz="850" dirty="0">
                <a:solidFill>
                  <a:srgbClr val="1A1A1A"/>
                </a:solidFill>
              </a:rPr>
              <a:t>Columns filled</a:t>
            </a:r>
            <a:endParaRPr lang="en-US" sz="850" dirty="0"/>
          </a:p>
          <a:p>
            <a:pPr algn="ctr" indent="0" marL="0">
              <a:buNone/>
            </a:pPr>
            <a:r>
              <a:rPr lang="en-US" sz="850" dirty="0">
                <a:solidFill>
                  <a:srgbClr val="1A1A1A"/>
                </a:solidFill>
              </a:rPr>
              <a:t>so far</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C8102E"/>
          </a:solidFill>
          <a:ln/>
        </p:spPr>
      </p:sp>
      <p:sp>
        <p:nvSpPr>
          <p:cNvPr id="3" name="Text 1"/>
          <p:cNvSpPr txBox="1"/>
          <p:nvPr/>
        </p:nvSpPr>
        <p:spPr>
          <a:xfrm>
            <a:off x="164592" y="73152"/>
            <a:ext cx="6858000" cy="402336"/>
          </a:xfrm>
          <a:prstGeom prst="rect">
            <a:avLst/>
          </a:prstGeom>
          <a:noFill/>
          <a:ln/>
        </p:spPr>
        <p:txBody>
          <a:bodyPr wrap="square" rtlCol="0" anchor="ctr"/>
          <a:lstStyle/>
          <a:p>
            <a:pPr indent="0" marL="0">
              <a:buNone/>
            </a:pPr>
            <a:r>
              <a:rPr lang="en-US" sz="1600" b="1" dirty="0">
                <a:solidFill>
                  <a:srgbClr val="FFFFFF"/>
                </a:solidFill>
              </a:rPr>
              <a:t>The End Goal — A Tool for Every Houston Resident</a:t>
            </a:r>
            <a:endParaRPr lang="en-US" sz="1600" dirty="0"/>
          </a:p>
        </p:txBody>
      </p:sp>
      <p:sp>
        <p:nvSpPr>
          <p:cNvPr id="4" name="Text 2"/>
          <p:cNvSpPr txBox="1"/>
          <p:nvPr/>
        </p:nvSpPr>
        <p:spPr>
          <a:xfrm>
            <a:off x="7132320" y="109728"/>
            <a:ext cx="1920240" cy="320040"/>
          </a:xfrm>
          <a:prstGeom prst="rect">
            <a:avLst/>
          </a:prstGeom>
          <a:noFill/>
          <a:ln/>
        </p:spPr>
        <p:txBody>
          <a:bodyPr wrap="square" rtlCol="0" anchor="ctr"/>
          <a:lstStyle/>
          <a:p>
            <a:pPr algn="r" indent="0" marL="0">
              <a:buNone/>
            </a:pPr>
            <a:r>
              <a:rPr lang="en-US" sz="800" dirty="0">
                <a:solidFill>
                  <a:srgbClr val="FFCCCC"/>
                </a:solidFill>
              </a:rPr>
              <a:t>4  Preliminary results</a:t>
            </a:r>
            <a:endParaRPr lang="en-US" sz="800" dirty="0"/>
          </a:p>
        </p:txBody>
      </p:sp>
      <p:sp>
        <p:nvSpPr>
          <p:cNvPr id="5" name="Text 3"/>
          <p:cNvSpPr txBox="1"/>
          <p:nvPr/>
        </p:nvSpPr>
        <p:spPr>
          <a:xfrm>
            <a:off x="137160" y="4992624"/>
            <a:ext cx="8869680" cy="146304"/>
          </a:xfrm>
          <a:prstGeom prst="rect">
            <a:avLst/>
          </a:prstGeom>
          <a:noFill/>
          <a:ln/>
        </p:spPr>
        <p:txBody>
          <a:bodyPr wrap="square" rtlCol="0" anchor="ctr"/>
          <a:lstStyle/>
          <a:p>
            <a:pPr algn="ctr" indent="0" marL="0">
              <a:buNone/>
            </a:pPr>
            <a:r>
              <a:rPr lang="en-US" sz="700" dirty="0">
                <a:solidFill>
                  <a:srgbClr val="CCCCCC"/>
                </a:solidFill>
              </a:rPr>
              <a:t>COSC 6368 Artificial Intelligence  •  Fall 2026  •  6 / 6</a:t>
            </a:r>
            <a:endParaRPr lang="en-US" sz="700" dirty="0"/>
          </a:p>
        </p:txBody>
      </p:sp>
      <p:pic>
        <p:nvPicPr>
          <p:cNvPr id="6" name="Image 0" descr="preencoded.png">    </p:cNvPr>
          <p:cNvPicPr>
            <a:picLocks noChangeAspect="1"/>
          </p:cNvPicPr>
          <p:nvPr/>
        </p:nvPicPr>
        <p:blipFill>
          <a:blip r:embed="rId1"/>
          <a:stretch>
            <a:fillRect/>
          </a:stretch>
        </p:blipFill>
        <p:spPr>
          <a:xfrm>
            <a:off x="164592" y="621792"/>
            <a:ext cx="5303520" cy="3383280"/>
          </a:xfrm>
          <a:prstGeom prst="rect">
            <a:avLst/>
          </a:prstGeom>
        </p:spPr>
      </p:pic>
      <p:sp>
        <p:nvSpPr>
          <p:cNvPr id="7" name="Text 4"/>
          <p:cNvSpPr txBox="1"/>
          <p:nvPr/>
        </p:nvSpPr>
        <p:spPr>
          <a:xfrm>
            <a:off x="164592" y="4041648"/>
            <a:ext cx="5303520" cy="347472"/>
          </a:xfrm>
          <a:prstGeom prst="rect">
            <a:avLst/>
          </a:prstGeom>
          <a:noFill/>
          <a:ln/>
        </p:spPr>
        <p:txBody>
          <a:bodyPr wrap="square" rtlCol="0" anchor="ctr"/>
          <a:lstStyle/>
          <a:p>
            <a:pPr indent="0" marL="0">
              <a:buNone/>
            </a:pPr>
            <a:r>
              <a:rPr lang="en-US" sz="750" i="1" dirty="0">
                <a:solidFill>
                  <a:srgbClr val="555555"/>
                </a:solidFill>
              </a:rPr>
              <a:t>Mockup — not model output yet. Green = lower risk, Red = higher risk, Blue line = bayou, Dots = 311 flood reports.</a:t>
            </a:r>
            <a:endParaRPr lang="en-US" sz="750" dirty="0"/>
          </a:p>
        </p:txBody>
      </p:sp>
      <p:sp>
        <p:nvSpPr>
          <p:cNvPr id="8" name="Text 5"/>
          <p:cNvSpPr txBox="1"/>
          <p:nvPr/>
        </p:nvSpPr>
        <p:spPr>
          <a:xfrm>
            <a:off x="5650992" y="621792"/>
            <a:ext cx="3337560" cy="256032"/>
          </a:xfrm>
          <a:prstGeom prst="rect">
            <a:avLst/>
          </a:prstGeom>
          <a:noFill/>
          <a:ln/>
        </p:spPr>
        <p:txBody>
          <a:bodyPr wrap="square" rtlCol="0" anchor="ctr"/>
          <a:lstStyle/>
          <a:p>
            <a:pPr indent="0" marL="0">
              <a:buNone/>
            </a:pPr>
            <a:r>
              <a:rPr lang="en-US" sz="1100" b="1" dirty="0">
                <a:solidFill>
                  <a:srgbClr val="C8102E"/>
                </a:solidFill>
              </a:rPr>
              <a:t>What the tool does</a:t>
            </a:r>
            <a:endParaRPr lang="en-US" sz="1100" dirty="0"/>
          </a:p>
        </p:txBody>
      </p:sp>
      <p:sp>
        <p:nvSpPr>
          <p:cNvPr id="9" name="Shape 6"/>
          <p:cNvSpPr/>
          <p:nvPr/>
        </p:nvSpPr>
        <p:spPr>
          <a:xfrm>
            <a:off x="5650992" y="932688"/>
            <a:ext cx="3337560" cy="914400"/>
          </a:xfrm>
          <a:prstGeom prst="rect">
            <a:avLst/>
          </a:prstGeom>
          <a:solidFill>
            <a:srgbClr val="F4F4F4"/>
          </a:solidFill>
          <a:ln w="12700">
            <a:solidFill>
              <a:srgbClr val="CCCCCC"/>
            </a:solidFill>
            <a:prstDash val="solid"/>
          </a:ln>
        </p:spPr>
      </p:sp>
      <p:sp>
        <p:nvSpPr>
          <p:cNvPr id="10" name="Shape 7"/>
          <p:cNvSpPr/>
          <p:nvPr/>
        </p:nvSpPr>
        <p:spPr>
          <a:xfrm>
            <a:off x="5650992" y="932688"/>
            <a:ext cx="457200" cy="914400"/>
          </a:xfrm>
          <a:prstGeom prst="rect">
            <a:avLst/>
          </a:prstGeom>
          <a:solidFill>
            <a:srgbClr val="C8102E"/>
          </a:solidFill>
          <a:ln/>
        </p:spPr>
      </p:sp>
      <p:sp>
        <p:nvSpPr>
          <p:cNvPr id="11" name="Text 8"/>
          <p:cNvSpPr txBox="1"/>
          <p:nvPr/>
        </p:nvSpPr>
        <p:spPr>
          <a:xfrm>
            <a:off x="5669280" y="1188720"/>
            <a:ext cx="420624" cy="402336"/>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12" name="Text 9"/>
          <p:cNvSpPr txBox="1"/>
          <p:nvPr/>
        </p:nvSpPr>
        <p:spPr>
          <a:xfrm>
            <a:off x="6172200" y="987552"/>
            <a:ext cx="2743200" cy="256032"/>
          </a:xfrm>
          <a:prstGeom prst="rect">
            <a:avLst/>
          </a:prstGeom>
          <a:noFill/>
          <a:ln/>
        </p:spPr>
        <p:txBody>
          <a:bodyPr wrap="square" rtlCol="0" anchor="ctr"/>
          <a:lstStyle/>
          <a:p>
            <a:pPr indent="0" marL="0">
              <a:buNone/>
            </a:pPr>
            <a:r>
              <a:rPr lang="en-US" sz="950" b="1" dirty="0">
                <a:solidFill>
                  <a:srgbClr val="C8102E"/>
                </a:solidFill>
              </a:rPr>
              <a:t>Your address risk score</a:t>
            </a:r>
            <a:endParaRPr lang="en-US" sz="950" dirty="0"/>
          </a:p>
        </p:txBody>
      </p:sp>
      <p:sp>
        <p:nvSpPr>
          <p:cNvPr id="13" name="Text 10"/>
          <p:cNvSpPr txBox="1"/>
          <p:nvPr/>
        </p:nvSpPr>
        <p:spPr>
          <a:xfrm>
            <a:off x="6172200" y="1243584"/>
            <a:ext cx="2743200" cy="530352"/>
          </a:xfrm>
          <a:prstGeom prst="rect">
            <a:avLst/>
          </a:prstGeom>
          <a:noFill/>
          <a:ln/>
        </p:spPr>
        <p:txBody>
          <a:bodyPr wrap="square" rtlCol="0" anchor="ctr"/>
          <a:lstStyle/>
          <a:p>
            <a:pPr indent="0" marL="0">
              <a:buNone/>
            </a:pPr>
            <a:r>
              <a:rPr lang="en-US" sz="850" dirty="0">
                <a:solidFill>
                  <a:srgbClr val="1A1A1A"/>
                </a:solidFill>
              </a:rPr>
              <a:t>Any Houston resident types their address → sees their flood risk %</a:t>
            </a:r>
            <a:endParaRPr lang="en-US" sz="850" dirty="0"/>
          </a:p>
        </p:txBody>
      </p:sp>
      <p:sp>
        <p:nvSpPr>
          <p:cNvPr id="14" name="Shape 11"/>
          <p:cNvSpPr/>
          <p:nvPr/>
        </p:nvSpPr>
        <p:spPr>
          <a:xfrm>
            <a:off x="5650992" y="1938528"/>
            <a:ext cx="3337560" cy="914400"/>
          </a:xfrm>
          <a:prstGeom prst="rect">
            <a:avLst/>
          </a:prstGeom>
          <a:solidFill>
            <a:srgbClr val="F4F4F4"/>
          </a:solidFill>
          <a:ln w="12700">
            <a:solidFill>
              <a:srgbClr val="CCCCCC"/>
            </a:solidFill>
            <a:prstDash val="solid"/>
          </a:ln>
        </p:spPr>
      </p:sp>
      <p:sp>
        <p:nvSpPr>
          <p:cNvPr id="15" name="Shape 12"/>
          <p:cNvSpPr/>
          <p:nvPr/>
        </p:nvSpPr>
        <p:spPr>
          <a:xfrm>
            <a:off x="5650992" y="1938528"/>
            <a:ext cx="457200" cy="914400"/>
          </a:xfrm>
          <a:prstGeom prst="rect">
            <a:avLst/>
          </a:prstGeom>
          <a:solidFill>
            <a:srgbClr val="C8102E"/>
          </a:solidFill>
          <a:ln/>
        </p:spPr>
      </p:sp>
      <p:sp>
        <p:nvSpPr>
          <p:cNvPr id="16" name="Text 13"/>
          <p:cNvSpPr txBox="1"/>
          <p:nvPr/>
        </p:nvSpPr>
        <p:spPr>
          <a:xfrm>
            <a:off x="5669280" y="2194560"/>
            <a:ext cx="420624" cy="402336"/>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17" name="Text 14"/>
          <p:cNvSpPr txBox="1"/>
          <p:nvPr/>
        </p:nvSpPr>
        <p:spPr>
          <a:xfrm>
            <a:off x="6172200" y="1993392"/>
            <a:ext cx="2743200" cy="256032"/>
          </a:xfrm>
          <a:prstGeom prst="rect">
            <a:avLst/>
          </a:prstGeom>
          <a:noFill/>
          <a:ln/>
        </p:spPr>
        <p:txBody>
          <a:bodyPr wrap="square" rtlCol="0" anchor="ctr"/>
          <a:lstStyle/>
          <a:p>
            <a:pPr indent="0" marL="0">
              <a:buNone/>
            </a:pPr>
            <a:r>
              <a:rPr lang="en-US" sz="950" b="1" dirty="0">
                <a:solidFill>
                  <a:srgbClr val="C8102E"/>
                </a:solidFill>
              </a:rPr>
              <a:t>Rainfall slider</a:t>
            </a:r>
            <a:endParaRPr lang="en-US" sz="950" dirty="0"/>
          </a:p>
        </p:txBody>
      </p:sp>
      <p:sp>
        <p:nvSpPr>
          <p:cNvPr id="18" name="Text 15"/>
          <p:cNvSpPr txBox="1"/>
          <p:nvPr/>
        </p:nvSpPr>
        <p:spPr>
          <a:xfrm>
            <a:off x="6172200" y="2249424"/>
            <a:ext cx="2743200" cy="530352"/>
          </a:xfrm>
          <a:prstGeom prst="rect">
            <a:avLst/>
          </a:prstGeom>
          <a:noFill/>
          <a:ln/>
        </p:spPr>
        <p:txBody>
          <a:bodyPr wrap="square" rtlCol="0" anchor="ctr"/>
          <a:lstStyle/>
          <a:p>
            <a:pPr indent="0" marL="0">
              <a:buNone/>
            </a:pPr>
            <a:r>
              <a:rPr lang="en-US" sz="850" dirty="0">
                <a:solidFill>
                  <a:srgbClr val="1A1A1A"/>
                </a:solidFill>
              </a:rPr>
              <a:t>Drag from 1 inch to 20 inches — watch which areas turn red</a:t>
            </a:r>
            <a:endParaRPr lang="en-US" sz="850" dirty="0"/>
          </a:p>
        </p:txBody>
      </p:sp>
      <p:sp>
        <p:nvSpPr>
          <p:cNvPr id="19" name="Shape 16"/>
          <p:cNvSpPr/>
          <p:nvPr/>
        </p:nvSpPr>
        <p:spPr>
          <a:xfrm>
            <a:off x="5650992" y="2944368"/>
            <a:ext cx="3337560" cy="914400"/>
          </a:xfrm>
          <a:prstGeom prst="rect">
            <a:avLst/>
          </a:prstGeom>
          <a:solidFill>
            <a:srgbClr val="F4F4F4"/>
          </a:solidFill>
          <a:ln w="12700">
            <a:solidFill>
              <a:srgbClr val="CCCCCC"/>
            </a:solidFill>
            <a:prstDash val="solid"/>
          </a:ln>
        </p:spPr>
      </p:sp>
      <p:sp>
        <p:nvSpPr>
          <p:cNvPr id="20" name="Shape 17"/>
          <p:cNvSpPr/>
          <p:nvPr/>
        </p:nvSpPr>
        <p:spPr>
          <a:xfrm>
            <a:off x="5650992" y="2944368"/>
            <a:ext cx="457200" cy="914400"/>
          </a:xfrm>
          <a:prstGeom prst="rect">
            <a:avLst/>
          </a:prstGeom>
          <a:solidFill>
            <a:srgbClr val="C8102E"/>
          </a:solidFill>
          <a:ln/>
        </p:spPr>
      </p:sp>
      <p:sp>
        <p:nvSpPr>
          <p:cNvPr id="21" name="Text 18"/>
          <p:cNvSpPr txBox="1"/>
          <p:nvPr/>
        </p:nvSpPr>
        <p:spPr>
          <a:xfrm>
            <a:off x="5669280" y="3200400"/>
            <a:ext cx="420624" cy="402336"/>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22" name="Text 19"/>
          <p:cNvSpPr txBox="1"/>
          <p:nvPr/>
        </p:nvSpPr>
        <p:spPr>
          <a:xfrm>
            <a:off x="6172200" y="2999232"/>
            <a:ext cx="2743200" cy="256032"/>
          </a:xfrm>
          <a:prstGeom prst="rect">
            <a:avLst/>
          </a:prstGeom>
          <a:noFill/>
          <a:ln/>
        </p:spPr>
        <p:txBody>
          <a:bodyPr wrap="square" rtlCol="0" anchor="ctr"/>
          <a:lstStyle/>
          <a:p>
            <a:pPr indent="0" marL="0">
              <a:buNone/>
            </a:pPr>
            <a:r>
              <a:rPr lang="en-US" sz="950" b="1" dirty="0">
                <a:solidFill>
                  <a:srgbClr val="C8102E"/>
                </a:solidFill>
              </a:rPr>
              <a:t>SHAP explanation</a:t>
            </a:r>
            <a:endParaRPr lang="en-US" sz="950" dirty="0"/>
          </a:p>
        </p:txBody>
      </p:sp>
      <p:sp>
        <p:nvSpPr>
          <p:cNvPr id="23" name="Text 20"/>
          <p:cNvSpPr txBox="1"/>
          <p:nvPr/>
        </p:nvSpPr>
        <p:spPr>
          <a:xfrm>
            <a:off x="6172200" y="3255264"/>
            <a:ext cx="2743200" cy="530352"/>
          </a:xfrm>
          <a:prstGeom prst="rect">
            <a:avLst/>
          </a:prstGeom>
          <a:noFill/>
          <a:ln/>
        </p:spPr>
        <p:txBody>
          <a:bodyPr wrap="square" rtlCol="0" anchor="ctr"/>
          <a:lstStyle/>
          <a:p>
            <a:pPr indent="0" marL="0">
              <a:buNone/>
            </a:pPr>
            <a:r>
              <a:rPr lang="en-US" sz="850" dirty="0">
                <a:solidFill>
                  <a:srgbClr val="1A1A1A"/>
                </a:solidFill>
              </a:rPr>
              <a:t>Click any spot: "High risk because: low elevation, 0.2mi from bayou, 85% paved"</a:t>
            </a:r>
            <a:endParaRPr lang="en-US" sz="850" dirty="0"/>
          </a:p>
        </p:txBody>
      </p:sp>
      <p:sp>
        <p:nvSpPr>
          <p:cNvPr id="24" name="Shape 21"/>
          <p:cNvSpPr/>
          <p:nvPr/>
        </p:nvSpPr>
        <p:spPr>
          <a:xfrm>
            <a:off x="5650992" y="3950208"/>
            <a:ext cx="3337560" cy="914400"/>
          </a:xfrm>
          <a:prstGeom prst="rect">
            <a:avLst/>
          </a:prstGeom>
          <a:solidFill>
            <a:srgbClr val="F4F4F4"/>
          </a:solidFill>
          <a:ln w="12700">
            <a:solidFill>
              <a:srgbClr val="CCCCCC"/>
            </a:solidFill>
            <a:prstDash val="solid"/>
          </a:ln>
        </p:spPr>
      </p:sp>
      <p:sp>
        <p:nvSpPr>
          <p:cNvPr id="25" name="Shape 22"/>
          <p:cNvSpPr/>
          <p:nvPr/>
        </p:nvSpPr>
        <p:spPr>
          <a:xfrm>
            <a:off x="5650992" y="3950208"/>
            <a:ext cx="457200" cy="914400"/>
          </a:xfrm>
          <a:prstGeom prst="rect">
            <a:avLst/>
          </a:prstGeom>
          <a:solidFill>
            <a:srgbClr val="C8102E"/>
          </a:solidFill>
          <a:ln/>
        </p:spPr>
      </p:sp>
      <p:sp>
        <p:nvSpPr>
          <p:cNvPr id="26" name="Text 23"/>
          <p:cNvSpPr txBox="1"/>
          <p:nvPr/>
        </p:nvSpPr>
        <p:spPr>
          <a:xfrm>
            <a:off x="5669280" y="4206240"/>
            <a:ext cx="420624" cy="402336"/>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27" name="Text 24"/>
          <p:cNvSpPr txBox="1"/>
          <p:nvPr/>
        </p:nvSpPr>
        <p:spPr>
          <a:xfrm>
            <a:off x="6172200" y="4005072"/>
            <a:ext cx="2743200" cy="256032"/>
          </a:xfrm>
          <a:prstGeom prst="rect">
            <a:avLst/>
          </a:prstGeom>
          <a:noFill/>
          <a:ln/>
        </p:spPr>
        <p:txBody>
          <a:bodyPr wrap="square" rtlCol="0" anchor="ctr"/>
          <a:lstStyle/>
          <a:p>
            <a:pPr indent="0" marL="0">
              <a:buNone/>
            </a:pPr>
            <a:r>
              <a:rPr lang="en-US" sz="950" b="1" dirty="0">
                <a:solidFill>
                  <a:srgbClr val="C8102E"/>
                </a:solidFill>
              </a:rPr>
              <a:t>Storm scenario</a:t>
            </a:r>
            <a:endParaRPr lang="en-US" sz="950" dirty="0"/>
          </a:p>
        </p:txBody>
      </p:sp>
      <p:sp>
        <p:nvSpPr>
          <p:cNvPr id="28" name="Text 25"/>
          <p:cNvSpPr txBox="1"/>
          <p:nvPr/>
        </p:nvSpPr>
        <p:spPr>
          <a:xfrm>
            <a:off x="6172200" y="4261104"/>
            <a:ext cx="2743200" cy="530352"/>
          </a:xfrm>
          <a:prstGeom prst="rect">
            <a:avLst/>
          </a:prstGeom>
          <a:noFill/>
          <a:ln/>
        </p:spPr>
        <p:txBody>
          <a:bodyPr wrap="square" rtlCol="0" anchor="ctr"/>
          <a:lstStyle/>
          <a:p>
            <a:pPr indent="0" marL="0">
              <a:buNone/>
            </a:pPr>
            <a:r>
              <a:rPr lang="en-US" sz="850" dirty="0">
                <a:solidFill>
                  <a:srgbClr val="1A1A1A"/>
                </a:solidFill>
              </a:rPr>
              <a:t>"What if Harvey-level rain falls today?" — see the risk map instantly</a:t>
            </a:r>
            <a:endParaRPr lang="en-US" sz="850" dirty="0"/>
          </a:p>
        </p:txBody>
      </p:sp>
      <p:sp>
        <p:nvSpPr>
          <p:cNvPr id="29" name="Shape 26"/>
          <p:cNvSpPr/>
          <p:nvPr/>
        </p:nvSpPr>
        <p:spPr>
          <a:xfrm>
            <a:off x="0" y="4773168"/>
            <a:ext cx="9144000" cy="347472"/>
          </a:xfrm>
          <a:prstGeom prst="rect">
            <a:avLst/>
          </a:prstGeom>
          <a:solidFill>
            <a:srgbClr val="C8102E"/>
          </a:solidFill>
          <a:ln/>
        </p:spPr>
      </p:sp>
      <p:sp>
        <p:nvSpPr>
          <p:cNvPr id="30" name="Text 27"/>
          <p:cNvSpPr txBox="1"/>
          <p:nvPr/>
        </p:nvSpPr>
        <p:spPr>
          <a:xfrm>
            <a:off x="137160" y="4809744"/>
            <a:ext cx="8869680" cy="256032"/>
          </a:xfrm>
          <a:prstGeom prst="rect">
            <a:avLst/>
          </a:prstGeom>
          <a:noFill/>
          <a:ln/>
        </p:spPr>
        <p:txBody>
          <a:bodyPr wrap="square" rtlCol="0" anchor="ctr"/>
          <a:lstStyle/>
          <a:p>
            <a:pPr algn="ctr" indent="0" marL="0">
              <a:buNone/>
            </a:pPr>
            <a:r>
              <a:rPr lang="en-US" sz="850" b="1" dirty="0">
                <a:solidFill>
                  <a:srgbClr val="FFFFFF"/>
                </a:solidFill>
              </a:rPr>
              <a:t>Proposal due Oct 26  |  Data engineering: Nov 1–10  |  Models: Nov 10–20  |  Tool: Nov 20–28  |  Final presentation: Nov 30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2026-10-20T23:48:20Z</dcterms:created>
  <dcterms:modified xsi:type="dcterms:W3CDTF">2026-10-20T23:48:20Z</dcterms:modified>
</cp:coreProperties>
</file>